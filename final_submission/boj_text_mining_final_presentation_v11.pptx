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57" r:id="rId4"/>
    <p:sldId id="258" r:id="rId5"/>
    <p:sldId id="259" r:id="rId6"/>
    <p:sldId id="264" r:id="rId7"/>
    <p:sldId id="260" r:id="rId8"/>
    <p:sldId id="261" r:id="rId9"/>
    <p:sldId id="262"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7" d="100"/>
          <a:sy n="77" d="100"/>
        </p:scale>
        <p:origin x="708" y="4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3765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問いの設計です。研究問題は、マイナス金利政策終了前後に、日銀は政策転換をどのように語ったのか、です。ここで最初から二つの解釈を置きます。Aは、日銀は明確に政策転換を示したという解釈です。Bは、政策転換は明確だったが、講演では根拠、条件、不確実性が強調されたという解釈です。4つの文書を98個のchunkに分け、同じ単位で分析するので、分析可能な問いになってい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分析設計は、Why, What, How, So Whatで固定しました。Whyは、政策発表には政策行動と中央銀行の経済情報が混在しうることです。Whatは、日本銀行の政策声明と講演です。Howは、同じchunkに三つの手法を適用することです。So Whatは、政策転換が明確に示されたのか、それとも慎重に説明されたのかを比べることです。Miranda-Agrippino and Riccoの議論は、政策発表を単純な政策行動としてだけ見ないための動機として使っています。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データ設計です。まずrawのHTMLやPDFから本文を抽出し、ウェブナビゲーションや声明の参考資料を削除してcleaned textにしました。その後、自然段落を基本に98個のchunkを作りました。短すぎる段落は結合し、長すぎる段落は句点で分割しています。百分比については、全chunkを単純に数えたものではありません。各文書内でラベル割合を計算し、文書タイプごとに平均しています。これは長い講演が結果を支配しないようにするためで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法設計です。同じchunkを三つの層から見ます。TF-IDFは語彙、Embeddingは意味的テーマ、生成AIは文脈上の機能と語調を見ます。Embeddingのクラスタ名は、アルゴリズムが自動で名前を付けたものではなく、代表chunkを読んで手動で命名しました。生成AI分類は、ラベル候補を事前に固定し、話し手の意図や市場効果は推測させないようにしました。</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1はTF-IDFです。これは名詞に限定した補助分析です。政策声明側には、決定、買い入れ、オペ、方針、国債のような政策手段の語が出ています。講演側には物価、企業、賃金など、経済説明に関係する語が出ています。したがって、TF-IDFからは、政策声明は何を決めたかを語る文書だと分かります。ただし、TF-IDFでは慎重さや条件性のような語調は見えません。</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2はEmbeddingです。chunk全体の意味から5つのテーマに分けました。政策声明は具体的な政策手段にかなり集中しています。一方、講演は賃金と物価の好循環、将来の政策経路と条件に多く分布しています。つまり、意味レベルでは、声明は政策手段、講演は経済条件と将来経路を説明していると読め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3は生成AI分類です。固定したラベルで各chunkを分類しました。政策声明では、政策行動が0.58、明確が0.53です。講演では、政策の根拠、経済見通し、慎重というラベルが相対的に多いです。これにより、声明は決定を明確に示し、講演は根拠や見通し、慎重さを補う役割を持っていたと読め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ズレの説明です。違う結果に見えるのは、手法が見ている単位が違うからです。TF-IDFは語の差を見るので、政策手段語が声明側に出ます。Embeddingはchunk全体の意味を見るので、講演が賃金物価や将来条件に寄ることが見えます。生成AIは文脈上の機能を見るので、講演の説明や慎重さが見えます。最終判断としては、政策転換は政策声明で明確に示されました。しかし講演では、その転換が根拠、条件、不確実性とともに説明されていました。したがって、Aは声明を見ると成立し、Bは声明と講演を合わせたコミュニケーション全体をよりよく説明し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685800" y="1173480"/>
            <a:ext cx="10652760" cy="1066800"/>
          </a:xfrm>
          <a:prstGeom prst="rect">
            <a:avLst/>
          </a:prstGeom>
          <a:solidFill>
            <a:srgbClr val="F6F6F6"/>
          </a:solidFill>
          <a:ln w="12700">
            <a:solidFill>
              <a:srgbClr val="D7D7D7"/>
            </a:solidFill>
          </a:ln>
        </p:spPr>
        <p:txBody>
          <a:bodyPr wrap="square" lIns="1016" tIns="1016" rIns="1016" bIns="1016" rtlCol="0" anchor="ctr">
            <a:normAutofit/>
          </a:bodyPr>
          <a:lstStyle/>
          <a:p>
            <a:r>
              <a:rPr lang="en-US" altLang="zh-CN" sz="2800" b="1" dirty="0">
                <a:solidFill>
                  <a:srgbClr val="222222"/>
                </a:solidFill>
                <a:latin typeface="Yu Gothic" pitchFamily="34" charset="0"/>
                <a:ea typeface="Yu Gothic" pitchFamily="34" charset="-122"/>
                <a:cs typeface="Yu Gothic" pitchFamily="34" charset="-120"/>
              </a:rPr>
              <a:t>2024</a:t>
            </a:r>
            <a:r>
              <a:rPr lang="ja-JP" altLang="en-US" sz="2800" b="1" dirty="0">
                <a:solidFill>
                  <a:srgbClr val="222222"/>
                </a:solidFill>
                <a:latin typeface="Yu Gothic" pitchFamily="34" charset="0"/>
                <a:ea typeface="Yu Gothic" pitchFamily="34" charset="-122"/>
                <a:cs typeface="Yu Gothic" pitchFamily="34" charset="-120"/>
              </a:rPr>
              <a:t>年、</a:t>
            </a:r>
            <a:r>
              <a:rPr lang="en-US" sz="2800" b="1" dirty="0" err="1">
                <a:solidFill>
                  <a:srgbClr val="222222"/>
                </a:solidFill>
                <a:latin typeface="Yu Gothic" pitchFamily="34" charset="0"/>
                <a:ea typeface="Yu Gothic" pitchFamily="34" charset="-122"/>
                <a:cs typeface="Yu Gothic" pitchFamily="34" charset="-120"/>
              </a:rPr>
              <a:t>マイナス金利政策終了前後において</a:t>
            </a:r>
            <a:r>
              <a:rPr lang="en-US" sz="2800" b="1" dirty="0">
                <a:solidFill>
                  <a:srgbClr val="222222"/>
                </a:solidFill>
                <a:latin typeface="Yu Gothic" pitchFamily="34" charset="0"/>
                <a:ea typeface="Yu Gothic" pitchFamily="34" charset="-122"/>
                <a:cs typeface="Yu Gothic" pitchFamily="34" charset="-120"/>
              </a:rPr>
              <a:t>、</a:t>
            </a:r>
          </a:p>
          <a:p>
            <a:pPr marL="0" indent="0">
              <a:buNone/>
            </a:pPr>
            <a:r>
              <a:rPr lang="en-US" sz="2800" b="1" dirty="0" err="1">
                <a:solidFill>
                  <a:srgbClr val="222222"/>
                </a:solidFill>
                <a:latin typeface="Yu Gothic" pitchFamily="34" charset="0"/>
                <a:ea typeface="Yu Gothic" pitchFamily="34" charset="-122"/>
                <a:cs typeface="Yu Gothic" pitchFamily="34" charset="-120"/>
              </a:rPr>
              <a:t>日銀は政策転換をどのように語ったのか</a:t>
            </a:r>
            <a:r>
              <a:rPr lang="ja-JP" altLang="en-US" sz="2800" b="1" dirty="0">
                <a:solidFill>
                  <a:srgbClr val="222222"/>
                </a:solidFill>
                <a:latin typeface="Yu Gothic" pitchFamily="34" charset="0"/>
                <a:ea typeface="Yu Gothic" pitchFamily="34" charset="-122"/>
                <a:cs typeface="Yu Gothic" pitchFamily="34" charset="-120"/>
              </a:rPr>
              <a:t>？</a:t>
            </a:r>
            <a:endParaRPr lang="en-US" sz="2800" b="1" dirty="0"/>
          </a:p>
        </p:txBody>
      </p:sp>
      <p:sp>
        <p:nvSpPr>
          <p:cNvPr id="6" name="Text 4"/>
          <p:cNvSpPr/>
          <p:nvPr/>
        </p:nvSpPr>
        <p:spPr>
          <a:xfrm>
            <a:off x="960120" y="2729484"/>
            <a:ext cx="5120640" cy="411480"/>
          </a:xfrm>
          <a:prstGeom prst="rect">
            <a:avLst/>
          </a:prstGeom>
          <a:noFill/>
          <a:ln/>
        </p:spPr>
        <p:txBody>
          <a:bodyPr wrap="square" lIns="1016" tIns="1016" rIns="1016" bIns="1016" rtlCol="0" anchor="ctr">
            <a:normAutofit/>
          </a:bodyPr>
          <a:lstStyle/>
          <a:p>
            <a:pPr marL="0" indent="0" algn="l">
              <a:buNone/>
            </a:pPr>
            <a:r>
              <a:rPr lang="en-US" sz="1700" b="1" dirty="0">
                <a:solidFill>
                  <a:srgbClr val="1F4E79"/>
                </a:solidFill>
                <a:latin typeface="Yu Gothic" pitchFamily="34" charset="0"/>
                <a:ea typeface="Yu Gothic" pitchFamily="34" charset="-122"/>
                <a:cs typeface="Yu Gothic" pitchFamily="34" charset="-120"/>
              </a:rPr>
              <a:t>A</a:t>
            </a:r>
            <a:endParaRPr lang="en-US" sz="1700" dirty="0"/>
          </a:p>
        </p:txBody>
      </p:sp>
      <p:sp>
        <p:nvSpPr>
          <p:cNvPr id="7" name="Text 5"/>
          <p:cNvSpPr/>
          <p:nvPr/>
        </p:nvSpPr>
        <p:spPr>
          <a:xfrm>
            <a:off x="960120" y="3246120"/>
            <a:ext cx="4937760" cy="1239520"/>
          </a:xfrm>
          <a:prstGeom prst="rect">
            <a:avLst/>
          </a:prstGeom>
          <a:solidFill>
            <a:srgbClr val="F3F8FC"/>
          </a:solidFill>
          <a:ln w="12700">
            <a:solidFill>
              <a:srgbClr val="B4CDE4"/>
            </a:solidFill>
          </a:ln>
        </p:spPr>
        <p:txBody>
          <a:bodyPr wrap="square" lIns="1016" tIns="1016" rIns="1016" bIns="1016" rtlCol="0" anchor="ctr">
            <a:normAutofit/>
          </a:bodyPr>
          <a:lstStyle/>
          <a:p>
            <a:r>
              <a:rPr lang="zh-CN" altLang="zh-CN" sz="2400" b="1" dirty="0"/>
              <a:t>マイナス金利政策の終了は、金融正常化への明確な転換として示された。</a:t>
            </a:r>
            <a:endParaRPr lang="en-US" sz="2400" b="1" dirty="0"/>
          </a:p>
        </p:txBody>
      </p:sp>
      <p:sp>
        <p:nvSpPr>
          <p:cNvPr id="8" name="Text 6"/>
          <p:cNvSpPr/>
          <p:nvPr/>
        </p:nvSpPr>
        <p:spPr>
          <a:xfrm>
            <a:off x="6263640" y="2788920"/>
            <a:ext cx="5120640" cy="411480"/>
          </a:xfrm>
          <a:prstGeom prst="rect">
            <a:avLst/>
          </a:prstGeom>
          <a:noFill/>
          <a:ln/>
        </p:spPr>
        <p:txBody>
          <a:bodyPr wrap="square" lIns="1016" tIns="1016" rIns="1016" bIns="1016" rtlCol="0" anchor="ctr">
            <a:normAutofit/>
          </a:bodyPr>
          <a:lstStyle/>
          <a:p>
            <a:pPr marL="0" indent="0" algn="l">
              <a:buNone/>
            </a:pPr>
            <a:r>
              <a:rPr lang="en-US" sz="1700" b="1" dirty="0">
                <a:solidFill>
                  <a:srgbClr val="1F4E79"/>
                </a:solidFill>
                <a:latin typeface="Yu Gothic" pitchFamily="34" charset="0"/>
                <a:ea typeface="Yu Gothic" pitchFamily="34" charset="-122"/>
                <a:cs typeface="Yu Gothic" pitchFamily="34" charset="-120"/>
              </a:rPr>
              <a:t>B</a:t>
            </a:r>
            <a:endParaRPr lang="en-US" sz="1700" dirty="0"/>
          </a:p>
        </p:txBody>
      </p:sp>
      <p:sp>
        <p:nvSpPr>
          <p:cNvPr id="9" name="Text 7"/>
          <p:cNvSpPr/>
          <p:nvPr/>
        </p:nvSpPr>
        <p:spPr>
          <a:xfrm>
            <a:off x="6263640" y="3246120"/>
            <a:ext cx="4892040" cy="1239520"/>
          </a:xfrm>
          <a:prstGeom prst="rect">
            <a:avLst/>
          </a:prstGeom>
          <a:solidFill>
            <a:srgbClr val="FFF7EF"/>
          </a:solidFill>
          <a:ln w="12700">
            <a:solidFill>
              <a:srgbClr val="EBC9A8"/>
            </a:solidFill>
          </a:ln>
        </p:spPr>
        <p:txBody>
          <a:bodyPr wrap="square" lIns="1016" tIns="1016" rIns="1016" bIns="1016" rtlCol="0" anchor="ctr">
            <a:normAutofit/>
          </a:bodyPr>
          <a:lstStyle/>
          <a:p>
            <a:r>
              <a:rPr lang="zh-CN" altLang="zh-CN" sz="2000" b="1" dirty="0"/>
              <a:t>マイナス金利政策の終了は、追加的な金融引き締めが直ちに続くとは示されていない。</a:t>
            </a:r>
            <a:endParaRPr lang="en-US" sz="2000" b="1" dirty="0"/>
          </a:p>
        </p:txBody>
      </p:sp>
      <p:sp>
        <p:nvSpPr>
          <p:cNvPr id="10" name="Text 8"/>
          <p:cNvSpPr/>
          <p:nvPr/>
        </p:nvSpPr>
        <p:spPr>
          <a:xfrm>
            <a:off x="960120" y="5074920"/>
            <a:ext cx="10195560" cy="548640"/>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ctr">
              <a:buNone/>
            </a:pPr>
            <a:r>
              <a:rPr lang="en-US" sz="1650" b="1" dirty="0">
                <a:solidFill>
                  <a:srgbClr val="222222"/>
                </a:solidFill>
                <a:latin typeface="Yu Gothic" pitchFamily="34" charset="0"/>
                <a:ea typeface="Yu Gothic" pitchFamily="34" charset="-122"/>
                <a:cs typeface="Yu Gothic" pitchFamily="34" charset="-120"/>
              </a:rPr>
              <a:t>4文書を98 chunkに分け、同じ単位で3手法を適用する。</a:t>
            </a:r>
            <a:endParaRPr lang="en-US" sz="1650" dirty="0"/>
          </a:p>
        </p:txBody>
      </p:sp>
      <p:sp>
        <p:nvSpPr>
          <p:cNvPr id="11" name="Text 9"/>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1/9</a:t>
            </a:r>
            <a:endParaRPr lang="en-US" sz="800" dirty="0"/>
          </a:p>
        </p:txBody>
      </p:sp>
      <p:sp>
        <p:nvSpPr>
          <p:cNvPr id="12" name="文本框 11">
            <a:extLst>
              <a:ext uri="{FF2B5EF4-FFF2-40B4-BE49-F238E27FC236}">
                <a16:creationId xmlns:a16="http://schemas.microsoft.com/office/drawing/2014/main" id="{9AC55D57-2730-63D9-DB37-ED293741AAC1}"/>
              </a:ext>
            </a:extLst>
          </p:cNvPr>
          <p:cNvSpPr txBox="1"/>
          <p:nvPr/>
        </p:nvSpPr>
        <p:spPr>
          <a:xfrm>
            <a:off x="217714" y="6145763"/>
            <a:ext cx="1888659" cy="646331"/>
          </a:xfrm>
          <a:prstGeom prst="rect">
            <a:avLst/>
          </a:prstGeom>
          <a:noFill/>
        </p:spPr>
        <p:txBody>
          <a:bodyPr wrap="none" rtlCol="0">
            <a:spAutoFit/>
          </a:bodyPr>
          <a:lstStyle/>
          <a:p>
            <a:r>
              <a:rPr lang="en-US" altLang="zh-CN" dirty="0"/>
              <a:t>u299034j</a:t>
            </a:r>
          </a:p>
          <a:p>
            <a:r>
              <a:rPr lang="en-US" altLang="zh-CN" dirty="0"/>
              <a:t>CHEN WENTAO</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2966A28F-DE6E-F8CB-D5F9-B1831F539B53}"/>
              </a:ext>
            </a:extLst>
          </p:cNvPr>
          <p:cNvPicPr>
            <a:picLocks noChangeAspect="1"/>
          </p:cNvPicPr>
          <p:nvPr/>
        </p:nvPicPr>
        <p:blipFill>
          <a:blip r:embed="rId2"/>
          <a:stretch>
            <a:fillRect/>
          </a:stretch>
        </p:blipFill>
        <p:spPr>
          <a:xfrm>
            <a:off x="0" y="136720"/>
            <a:ext cx="12192000" cy="6584560"/>
          </a:xfrm>
          <a:prstGeom prst="rect">
            <a:avLst/>
          </a:prstGeom>
        </p:spPr>
      </p:pic>
      <p:pic>
        <p:nvPicPr>
          <p:cNvPr id="12" name="图片 11">
            <a:extLst>
              <a:ext uri="{FF2B5EF4-FFF2-40B4-BE49-F238E27FC236}">
                <a16:creationId xmlns:a16="http://schemas.microsoft.com/office/drawing/2014/main" id="{BC2B87D4-877A-5914-F813-1B5A6D8EF8CF}"/>
              </a:ext>
            </a:extLst>
          </p:cNvPr>
          <p:cNvPicPr>
            <a:picLocks noChangeAspect="1"/>
          </p:cNvPicPr>
          <p:nvPr/>
        </p:nvPicPr>
        <p:blipFill>
          <a:blip r:embed="rId3"/>
          <a:stretch>
            <a:fillRect/>
          </a:stretch>
        </p:blipFill>
        <p:spPr>
          <a:xfrm>
            <a:off x="7519695" y="2439953"/>
            <a:ext cx="3006013" cy="3006013"/>
          </a:xfrm>
          <a:prstGeom prst="rect">
            <a:avLst/>
          </a:prstGeom>
        </p:spPr>
      </p:pic>
      <p:sp>
        <p:nvSpPr>
          <p:cNvPr id="13" name="文本框 12">
            <a:extLst>
              <a:ext uri="{FF2B5EF4-FFF2-40B4-BE49-F238E27FC236}">
                <a16:creationId xmlns:a16="http://schemas.microsoft.com/office/drawing/2014/main" id="{76B1AAA0-4D22-1E11-1181-470DC59E9D5C}"/>
              </a:ext>
            </a:extLst>
          </p:cNvPr>
          <p:cNvSpPr txBox="1"/>
          <p:nvPr/>
        </p:nvSpPr>
        <p:spPr>
          <a:xfrm>
            <a:off x="7601339" y="890941"/>
            <a:ext cx="2842726" cy="1477328"/>
          </a:xfrm>
          <a:prstGeom prst="rect">
            <a:avLst/>
          </a:prstGeom>
          <a:noFill/>
        </p:spPr>
        <p:txBody>
          <a:bodyPr wrap="square" rtlCol="0">
            <a:spAutoFit/>
          </a:bodyPr>
          <a:lstStyle/>
          <a:p>
            <a:r>
              <a:rPr lang="en-US" altLang="zh-CN" b="1" dirty="0">
                <a:solidFill>
                  <a:schemeClr val="bg1"/>
                </a:solidFill>
              </a:rPr>
              <a:t>This project has been uploaded to my </a:t>
            </a:r>
            <a:r>
              <a:rPr lang="en-US" altLang="zh-CN" b="1" dirty="0" err="1">
                <a:solidFill>
                  <a:schemeClr val="bg1"/>
                </a:solidFill>
              </a:rPr>
              <a:t>github</a:t>
            </a:r>
            <a:r>
              <a:rPr lang="en-US" altLang="zh-CN" b="1" dirty="0">
                <a:solidFill>
                  <a:schemeClr val="bg1"/>
                </a:solidFill>
              </a:rPr>
              <a:t> repository.</a:t>
            </a:r>
            <a:r>
              <a:rPr lang="zh-CN" altLang="en-US" b="1" dirty="0">
                <a:solidFill>
                  <a:schemeClr val="bg1"/>
                </a:solidFill>
              </a:rPr>
              <a:t> </a:t>
            </a:r>
            <a:endParaRPr lang="en-US" altLang="zh-CN" b="1" dirty="0">
              <a:solidFill>
                <a:schemeClr val="bg1"/>
              </a:solidFill>
            </a:endParaRPr>
          </a:p>
          <a:p>
            <a:r>
              <a:rPr lang="en-US" altLang="zh-CN" b="1" dirty="0">
                <a:solidFill>
                  <a:schemeClr val="bg1"/>
                </a:solidFill>
              </a:rPr>
              <a:t>You can visit and check it. Here is the </a:t>
            </a:r>
            <a:r>
              <a:rPr lang="en-US" altLang="zh-CN" b="1" dirty="0" err="1">
                <a:solidFill>
                  <a:schemeClr val="bg1"/>
                </a:solidFill>
              </a:rPr>
              <a:t>QRcode</a:t>
            </a:r>
            <a:endParaRPr lang="zh-CN" altLang="en-US" b="1" dirty="0">
              <a:solidFill>
                <a:schemeClr val="bg1"/>
              </a:solidFill>
            </a:endParaRPr>
          </a:p>
        </p:txBody>
      </p:sp>
      <p:sp>
        <p:nvSpPr>
          <p:cNvPr id="15" name="文本框 14">
            <a:extLst>
              <a:ext uri="{FF2B5EF4-FFF2-40B4-BE49-F238E27FC236}">
                <a16:creationId xmlns:a16="http://schemas.microsoft.com/office/drawing/2014/main" id="{D9954AC8-6C7C-AD35-5B8D-0C1B36629148}"/>
              </a:ext>
            </a:extLst>
          </p:cNvPr>
          <p:cNvSpPr txBox="1"/>
          <p:nvPr/>
        </p:nvSpPr>
        <p:spPr>
          <a:xfrm>
            <a:off x="155510" y="5990253"/>
            <a:ext cx="1888659" cy="646331"/>
          </a:xfrm>
          <a:prstGeom prst="rect">
            <a:avLst/>
          </a:prstGeom>
          <a:noFill/>
        </p:spPr>
        <p:txBody>
          <a:bodyPr wrap="none" rtlCol="0">
            <a:spAutoFit/>
          </a:bodyPr>
          <a:lstStyle/>
          <a:p>
            <a:r>
              <a:rPr lang="en-US" altLang="zh-CN" dirty="0">
                <a:solidFill>
                  <a:schemeClr val="bg1"/>
                </a:solidFill>
              </a:rPr>
              <a:t>u299034j</a:t>
            </a:r>
          </a:p>
          <a:p>
            <a:r>
              <a:rPr lang="en-US" altLang="zh-CN" dirty="0">
                <a:solidFill>
                  <a:schemeClr val="bg1"/>
                </a:solidFill>
              </a:rPr>
              <a:t>CHEN WENTAO</a:t>
            </a:r>
            <a:endParaRPr lang="zh-CN" altLang="en-US" dirty="0">
              <a:solidFill>
                <a:schemeClr val="bg1"/>
              </a:solidFill>
            </a:endParaRPr>
          </a:p>
        </p:txBody>
      </p:sp>
    </p:spTree>
    <p:extLst>
      <p:ext uri="{BB962C8B-B14F-4D97-AF65-F5344CB8AC3E}">
        <p14:creationId xmlns:p14="http://schemas.microsoft.com/office/powerpoint/2010/main" val="1095373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marL="0" indent="0">
              <a:buNone/>
            </a:pPr>
            <a:r>
              <a:rPr lang="en-US" sz="2400" b="1" dirty="0">
                <a:solidFill>
                  <a:srgbClr val="1F4E79"/>
                </a:solidFill>
                <a:latin typeface="Yu Gothic" pitchFamily="34" charset="0"/>
                <a:ea typeface="Yu Gothic" pitchFamily="34" charset="-122"/>
                <a:cs typeface="Yu Gothic" pitchFamily="34" charset="-120"/>
              </a:rPr>
              <a:t>分析設計</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marL="0" indent="0">
              <a:buNone/>
            </a:pPr>
            <a:endParaRPr lang="en-US" sz="1200" dirty="0"/>
          </a:p>
        </p:txBody>
      </p:sp>
      <p:sp>
        <p:nvSpPr>
          <p:cNvPr id="4" name="Text 2"/>
          <p:cNvSpPr/>
          <p:nvPr/>
        </p:nvSpPr>
        <p:spPr>
          <a:xfrm>
            <a:off x="685800" y="1188720"/>
            <a:ext cx="2148840" cy="411480"/>
          </a:xfrm>
          <a:prstGeom prst="rect">
            <a:avLst/>
          </a:prstGeom>
          <a:solidFill>
            <a:srgbClr val="1F4E79"/>
          </a:solidFill>
          <a:ln/>
        </p:spPr>
        <p:txBody>
          <a:bodyPr wrap="square" lIns="1016" tIns="1016" rIns="1016" bIns="1016" rtlCol="0" anchor="ctr">
            <a:normAutofit/>
          </a:bodyPr>
          <a:lstStyle/>
          <a:p>
            <a:pPr marL="0" indent="0" algn="ctr">
              <a:buNone/>
            </a:pPr>
            <a:r>
              <a:rPr lang="en-US" sz="2000" b="1" dirty="0">
                <a:solidFill>
                  <a:srgbClr val="FFFFFF"/>
                </a:solidFill>
                <a:latin typeface="Yu Gothic" pitchFamily="34" charset="0"/>
                <a:ea typeface="Yu Gothic" pitchFamily="34" charset="-122"/>
                <a:cs typeface="Yu Gothic" pitchFamily="34" charset="-120"/>
              </a:rPr>
              <a:t>Why</a:t>
            </a:r>
            <a:endParaRPr lang="en-US" sz="2000" dirty="0"/>
          </a:p>
        </p:txBody>
      </p:sp>
      <p:sp>
        <p:nvSpPr>
          <p:cNvPr id="5" name="Text 3"/>
          <p:cNvSpPr/>
          <p:nvPr/>
        </p:nvSpPr>
        <p:spPr>
          <a:xfrm>
            <a:off x="685800" y="1719072"/>
            <a:ext cx="2148840" cy="1234440"/>
          </a:xfrm>
          <a:prstGeom prst="rect">
            <a:avLst/>
          </a:prstGeom>
          <a:solidFill>
            <a:srgbClr val="FFFFFF"/>
          </a:solidFill>
          <a:ln w="12700">
            <a:solidFill>
              <a:srgbClr val="D7D7D7"/>
            </a:solidFill>
          </a:ln>
        </p:spPr>
        <p:txBody>
          <a:bodyPr wrap="square" lIns="1016" tIns="1016" rIns="1016" bIns="1016" rtlCol="0" anchor="ctr">
            <a:normAutofit/>
          </a:bodyPr>
          <a:lstStyle/>
          <a:p>
            <a:pPr algn="ctr"/>
            <a:r>
              <a:rPr lang="zh-CN" altLang="zh-CN" sz="1600" dirty="0"/>
              <a:t>金融政策の発表は、政策変更だけでなく、中央銀行の経済認識も市場に伝える。 </a:t>
            </a:r>
            <a:r>
              <a:rPr lang="en-US" sz="1430" dirty="0">
                <a:solidFill>
                  <a:srgbClr val="222222"/>
                </a:solidFill>
                <a:latin typeface="Yu Gothic" pitchFamily="34" charset="0"/>
                <a:ea typeface="Yu Gothic" pitchFamily="34" charset="-122"/>
                <a:cs typeface="Yu Gothic" pitchFamily="34" charset="-120"/>
              </a:rPr>
              <a:t>。</a:t>
            </a:r>
            <a:endParaRPr lang="en-US" sz="1430" dirty="0"/>
          </a:p>
        </p:txBody>
      </p:sp>
      <p:sp>
        <p:nvSpPr>
          <p:cNvPr id="6" name="Text 4"/>
          <p:cNvSpPr/>
          <p:nvPr/>
        </p:nvSpPr>
        <p:spPr>
          <a:xfrm>
            <a:off x="3611880" y="1188720"/>
            <a:ext cx="2148840" cy="411480"/>
          </a:xfrm>
          <a:prstGeom prst="rect">
            <a:avLst/>
          </a:prstGeom>
          <a:solidFill>
            <a:srgbClr val="1F4E79"/>
          </a:solidFill>
          <a:ln/>
        </p:spPr>
        <p:txBody>
          <a:bodyPr wrap="square" lIns="1016" tIns="1016" rIns="1016" bIns="1016" rtlCol="0" anchor="ctr">
            <a:normAutofit/>
          </a:bodyPr>
          <a:lstStyle/>
          <a:p>
            <a:pPr marL="0" indent="0" algn="ctr">
              <a:buNone/>
            </a:pPr>
            <a:r>
              <a:rPr lang="en-US" sz="2000" b="1" dirty="0">
                <a:solidFill>
                  <a:srgbClr val="FFFFFF"/>
                </a:solidFill>
                <a:latin typeface="Yu Gothic" pitchFamily="34" charset="0"/>
                <a:ea typeface="Yu Gothic" pitchFamily="34" charset="-122"/>
                <a:cs typeface="Yu Gothic" pitchFamily="34" charset="-120"/>
              </a:rPr>
              <a:t>What</a:t>
            </a:r>
            <a:endParaRPr lang="en-US" sz="2000" dirty="0"/>
          </a:p>
        </p:txBody>
      </p:sp>
      <p:sp>
        <p:nvSpPr>
          <p:cNvPr id="7" name="Text 5"/>
          <p:cNvSpPr/>
          <p:nvPr/>
        </p:nvSpPr>
        <p:spPr>
          <a:xfrm>
            <a:off x="3611880" y="1719072"/>
            <a:ext cx="2148840" cy="1234440"/>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ctr">
              <a:buNone/>
            </a:pPr>
            <a:r>
              <a:rPr lang="en-US" sz="1430" dirty="0">
                <a:solidFill>
                  <a:srgbClr val="222222"/>
                </a:solidFill>
                <a:latin typeface="Yu Gothic" pitchFamily="34" charset="0"/>
                <a:ea typeface="Yu Gothic" pitchFamily="34" charset="-122"/>
                <a:cs typeface="Yu Gothic" pitchFamily="34" charset="-120"/>
              </a:rPr>
              <a:t>日銀の政策声明と講演。</a:t>
            </a:r>
            <a:endParaRPr lang="en-US" sz="1430" dirty="0"/>
          </a:p>
          <a:p>
            <a:pPr marL="0" indent="0" algn="ctr">
              <a:buNone/>
            </a:pPr>
            <a:r>
              <a:rPr lang="en-US" sz="1430" dirty="0">
                <a:solidFill>
                  <a:srgbClr val="222222"/>
                </a:solidFill>
                <a:latin typeface="Yu Gothic" pitchFamily="34" charset="0"/>
                <a:ea typeface="Yu Gothic" pitchFamily="34" charset="-122"/>
                <a:cs typeface="Yu Gothic" pitchFamily="34" charset="-120"/>
              </a:rPr>
              <a:t>対象は負利率終了前後。</a:t>
            </a:r>
            <a:endParaRPr lang="en-US" sz="1430" dirty="0"/>
          </a:p>
        </p:txBody>
      </p:sp>
      <p:sp>
        <p:nvSpPr>
          <p:cNvPr id="8" name="Text 6"/>
          <p:cNvSpPr/>
          <p:nvPr/>
        </p:nvSpPr>
        <p:spPr>
          <a:xfrm>
            <a:off x="6492240" y="1188720"/>
            <a:ext cx="2148840" cy="411480"/>
          </a:xfrm>
          <a:prstGeom prst="rect">
            <a:avLst/>
          </a:prstGeom>
          <a:solidFill>
            <a:srgbClr val="1F4E79"/>
          </a:solidFill>
          <a:ln/>
        </p:spPr>
        <p:txBody>
          <a:bodyPr wrap="square" lIns="1016" tIns="1016" rIns="1016" bIns="1016" rtlCol="0" anchor="ctr">
            <a:normAutofit/>
          </a:bodyPr>
          <a:lstStyle/>
          <a:p>
            <a:pPr marL="0" indent="0" algn="ctr">
              <a:buNone/>
            </a:pPr>
            <a:r>
              <a:rPr lang="en-US" sz="2000" b="1" dirty="0">
                <a:solidFill>
                  <a:srgbClr val="FFFFFF"/>
                </a:solidFill>
                <a:latin typeface="Yu Gothic" pitchFamily="34" charset="0"/>
                <a:ea typeface="Yu Gothic" pitchFamily="34" charset="-122"/>
                <a:cs typeface="Yu Gothic" pitchFamily="34" charset="-120"/>
              </a:rPr>
              <a:t>How</a:t>
            </a:r>
            <a:endParaRPr lang="en-US" sz="2000" dirty="0"/>
          </a:p>
        </p:txBody>
      </p:sp>
      <p:sp>
        <p:nvSpPr>
          <p:cNvPr id="9" name="Text 7"/>
          <p:cNvSpPr/>
          <p:nvPr/>
        </p:nvSpPr>
        <p:spPr>
          <a:xfrm>
            <a:off x="6492240" y="1719072"/>
            <a:ext cx="2148840" cy="1234440"/>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ctr">
              <a:buNone/>
            </a:pPr>
            <a:r>
              <a:rPr lang="en-US" sz="1430" dirty="0">
                <a:solidFill>
                  <a:srgbClr val="222222"/>
                </a:solidFill>
                <a:latin typeface="Yu Gothic" pitchFamily="34" charset="0"/>
                <a:ea typeface="Yu Gothic" pitchFamily="34" charset="-122"/>
                <a:cs typeface="Yu Gothic" pitchFamily="34" charset="-120"/>
              </a:rPr>
              <a:t>同一chunkに</a:t>
            </a:r>
            <a:endParaRPr lang="en-US" sz="1430" dirty="0"/>
          </a:p>
          <a:p>
            <a:pPr marL="0" indent="0" algn="ctr">
              <a:buNone/>
            </a:pPr>
            <a:r>
              <a:rPr lang="en-US" sz="1430" dirty="0">
                <a:solidFill>
                  <a:srgbClr val="222222"/>
                </a:solidFill>
                <a:latin typeface="Yu Gothic" pitchFamily="34" charset="0"/>
                <a:ea typeface="Yu Gothic" pitchFamily="34" charset="-122"/>
                <a:cs typeface="Yu Gothic" pitchFamily="34" charset="-120"/>
              </a:rPr>
              <a:t>TF-IDF・Embedding・</a:t>
            </a:r>
            <a:endParaRPr lang="en-US" sz="1430" dirty="0"/>
          </a:p>
          <a:p>
            <a:pPr marL="0" indent="0" algn="ctr">
              <a:buNone/>
            </a:pPr>
            <a:r>
              <a:rPr lang="en-US" sz="1430" dirty="0">
                <a:solidFill>
                  <a:srgbClr val="222222"/>
                </a:solidFill>
                <a:latin typeface="Yu Gothic" pitchFamily="34" charset="0"/>
                <a:ea typeface="Yu Gothic" pitchFamily="34" charset="-122"/>
                <a:cs typeface="Yu Gothic" pitchFamily="34" charset="-120"/>
              </a:rPr>
              <a:t>生成AI分類を適用。</a:t>
            </a:r>
            <a:endParaRPr lang="en-US" sz="1430" dirty="0"/>
          </a:p>
        </p:txBody>
      </p:sp>
      <p:sp>
        <p:nvSpPr>
          <p:cNvPr id="10" name="Text 8"/>
          <p:cNvSpPr/>
          <p:nvPr/>
        </p:nvSpPr>
        <p:spPr>
          <a:xfrm>
            <a:off x="6492240" y="3156732"/>
            <a:ext cx="2148840" cy="411480"/>
          </a:xfrm>
          <a:prstGeom prst="rect">
            <a:avLst/>
          </a:prstGeom>
          <a:solidFill>
            <a:srgbClr val="1F4E79"/>
          </a:solidFill>
          <a:ln/>
        </p:spPr>
        <p:txBody>
          <a:bodyPr wrap="square" lIns="1016" tIns="1016" rIns="1016" bIns="1016" rtlCol="0" anchor="ctr">
            <a:normAutofit/>
          </a:bodyPr>
          <a:lstStyle/>
          <a:p>
            <a:pPr marL="0" indent="0" algn="ctr">
              <a:buNone/>
            </a:pPr>
            <a:r>
              <a:rPr lang="en-US" sz="2000" b="1" dirty="0">
                <a:solidFill>
                  <a:srgbClr val="FFFFFF"/>
                </a:solidFill>
                <a:latin typeface="Yu Gothic" pitchFamily="34" charset="0"/>
                <a:ea typeface="Yu Gothic" pitchFamily="34" charset="-122"/>
                <a:cs typeface="Yu Gothic" pitchFamily="34" charset="-120"/>
              </a:rPr>
              <a:t>So What</a:t>
            </a:r>
            <a:endParaRPr lang="en-US" sz="2000" dirty="0"/>
          </a:p>
        </p:txBody>
      </p:sp>
      <p:sp>
        <p:nvSpPr>
          <p:cNvPr id="11" name="Text 9"/>
          <p:cNvSpPr/>
          <p:nvPr/>
        </p:nvSpPr>
        <p:spPr>
          <a:xfrm>
            <a:off x="9050694" y="950977"/>
            <a:ext cx="2470746" cy="2911896"/>
          </a:xfrm>
          <a:prstGeom prst="rect">
            <a:avLst/>
          </a:prstGeom>
          <a:solidFill>
            <a:srgbClr val="FFFFFF"/>
          </a:solidFill>
          <a:ln w="12700">
            <a:solidFill>
              <a:srgbClr val="D7D7D7"/>
            </a:solidFill>
          </a:ln>
        </p:spPr>
        <p:txBody>
          <a:bodyPr wrap="square" lIns="1016" tIns="1016" rIns="1016" bIns="1016" rtlCol="0" anchor="ctr">
            <a:normAutofit/>
          </a:bodyPr>
          <a:lstStyle/>
          <a:p>
            <a:r>
              <a:rPr lang="zh-CN" altLang="zh-CN" b="1" dirty="0"/>
              <a:t>マイナス金利政策の終了は、「金融正常化の開始」として語られたのか、</a:t>
            </a:r>
            <a:endParaRPr lang="en-US" altLang="zh-CN" b="1" dirty="0"/>
          </a:p>
          <a:p>
            <a:endParaRPr lang="en-US" altLang="zh-CN" b="1" dirty="0"/>
          </a:p>
          <a:p>
            <a:r>
              <a:rPr lang="zh-CN" altLang="zh-CN" b="1" dirty="0"/>
              <a:t>それとも「追加的な引き締めを意味しない限定的な変更」として語られたのか。</a:t>
            </a:r>
            <a:endParaRPr lang="en-US" sz="1600" b="1" dirty="0"/>
          </a:p>
        </p:txBody>
      </p:sp>
      <p:sp>
        <p:nvSpPr>
          <p:cNvPr id="12" name="Text 10"/>
          <p:cNvSpPr/>
          <p:nvPr/>
        </p:nvSpPr>
        <p:spPr>
          <a:xfrm>
            <a:off x="777240" y="3657600"/>
            <a:ext cx="1920240" cy="384048"/>
          </a:xfrm>
          <a:prstGeom prst="rect">
            <a:avLst/>
          </a:prstGeom>
          <a:noFill/>
          <a:ln/>
        </p:spPr>
        <p:txBody>
          <a:bodyPr wrap="square" lIns="1016" tIns="1016" rIns="1016" bIns="1016" rtlCol="0" anchor="ctr">
            <a:normAutofit/>
          </a:bodyPr>
          <a:lstStyle/>
          <a:p>
            <a:pPr marL="0" indent="0" algn="l">
              <a:buNone/>
            </a:pPr>
            <a:r>
              <a:rPr lang="en-US" sz="1600" b="1" dirty="0">
                <a:solidFill>
                  <a:srgbClr val="1F4E79"/>
                </a:solidFill>
                <a:latin typeface="Yu Gothic" pitchFamily="34" charset="0"/>
                <a:ea typeface="Yu Gothic" pitchFamily="34" charset="-122"/>
                <a:cs typeface="Yu Gothic" pitchFamily="34" charset="-120"/>
              </a:rPr>
              <a:t>理論的動機</a:t>
            </a:r>
            <a:endParaRPr lang="en-US" sz="1600" dirty="0"/>
          </a:p>
        </p:txBody>
      </p:sp>
      <p:sp>
        <p:nvSpPr>
          <p:cNvPr id="13" name="Text 11"/>
          <p:cNvSpPr/>
          <p:nvPr/>
        </p:nvSpPr>
        <p:spPr>
          <a:xfrm>
            <a:off x="777240" y="4096512"/>
            <a:ext cx="10652760" cy="685800"/>
          </a:xfrm>
          <a:prstGeom prst="rect">
            <a:avLst/>
          </a:prstGeom>
          <a:solidFill>
            <a:srgbClr val="F6F6F6"/>
          </a:solidFill>
          <a:ln w="12700">
            <a:solidFill>
              <a:srgbClr val="D7D7D7"/>
            </a:solidFill>
          </a:ln>
        </p:spPr>
        <p:txBody>
          <a:bodyPr wrap="square" lIns="1016" tIns="1016" rIns="1016" bIns="1016" rtlCol="0" anchor="ctr">
            <a:normAutofit/>
          </a:bodyPr>
          <a:lstStyle/>
          <a:p>
            <a:r>
              <a:rPr lang="en-US" sz="1600" dirty="0">
                <a:solidFill>
                  <a:srgbClr val="222222"/>
                </a:solidFill>
                <a:latin typeface="Yu Gothic" pitchFamily="34" charset="0"/>
                <a:ea typeface="Yu Gothic" pitchFamily="34" charset="-122"/>
                <a:cs typeface="Yu Gothic" pitchFamily="34" charset="-120"/>
              </a:rPr>
              <a:t>Miranda-Agrippino and Ricco (2021)：</a:t>
            </a:r>
            <a:r>
              <a:rPr lang="en-US" sz="1600" dirty="0" err="1">
                <a:solidFill>
                  <a:srgbClr val="222222"/>
                </a:solidFill>
                <a:latin typeface="Yu Gothic" pitchFamily="34" charset="0"/>
                <a:ea typeface="Yu Gothic" pitchFamily="34" charset="-122"/>
                <a:cs typeface="Yu Gothic" pitchFamily="34" charset="-120"/>
              </a:rPr>
              <a:t>政策サプライズには、政策ショックだけでなく</a:t>
            </a:r>
            <a:r>
              <a:rPr lang="zh-CN" altLang="zh-CN" sz="1600" dirty="0"/>
              <a:t>中央銀行の経済認識も市場に伝える。 </a:t>
            </a:r>
            <a:endParaRPr lang="en-US" sz="1600" dirty="0"/>
          </a:p>
        </p:txBody>
      </p:sp>
      <p:sp>
        <p:nvSpPr>
          <p:cNvPr id="14" name="Text 12"/>
          <p:cNvSpPr/>
          <p:nvPr/>
        </p:nvSpPr>
        <p:spPr>
          <a:xfrm>
            <a:off x="777240" y="5074920"/>
            <a:ext cx="10652760" cy="658368"/>
          </a:xfrm>
          <a:prstGeom prst="rect">
            <a:avLst/>
          </a:prstGeom>
          <a:solidFill>
            <a:srgbClr val="F3F8FC"/>
          </a:solidFill>
          <a:ln w="12700">
            <a:solidFill>
              <a:srgbClr val="B4CDE4"/>
            </a:solidFill>
          </a:ln>
        </p:spPr>
        <p:txBody>
          <a:bodyPr wrap="square" lIns="1016" tIns="1016" rIns="1016" bIns="1016" rtlCol="0" anchor="ctr">
            <a:normAutofit/>
          </a:bodyPr>
          <a:lstStyle/>
          <a:p>
            <a:pPr marL="0" indent="0" algn="ctr">
              <a:buNone/>
            </a:pPr>
            <a:r>
              <a:rPr lang="en-US" sz="1700" b="1" dirty="0">
                <a:solidFill>
                  <a:srgbClr val="222222"/>
                </a:solidFill>
                <a:latin typeface="Yu Gothic" pitchFamily="34" charset="0"/>
                <a:ea typeface="Yu Gothic" pitchFamily="34" charset="-122"/>
                <a:cs typeface="Yu Gothic" pitchFamily="34" charset="-120"/>
              </a:rPr>
              <a:t>本発表での置き換え：声明は「何を決めたか」、講演は「なぜ・どの条件で説明したか」を比べる。</a:t>
            </a:r>
            <a:endParaRPr lang="en-US" sz="1700" dirty="0"/>
          </a:p>
        </p:txBody>
      </p:sp>
      <p:sp>
        <p:nvSpPr>
          <p:cNvPr id="15" name="Text 13"/>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2/9</a:t>
            </a:r>
            <a:endParaRPr lang="en-US" sz="800" dirty="0"/>
          </a:p>
        </p:txBody>
      </p:sp>
      <p:sp>
        <p:nvSpPr>
          <p:cNvPr id="17" name="文本框 16">
            <a:extLst>
              <a:ext uri="{FF2B5EF4-FFF2-40B4-BE49-F238E27FC236}">
                <a16:creationId xmlns:a16="http://schemas.microsoft.com/office/drawing/2014/main" id="{BB235948-1E5C-2B3D-03F5-DB09DE564FBE}"/>
              </a:ext>
            </a:extLst>
          </p:cNvPr>
          <p:cNvSpPr txBox="1"/>
          <p:nvPr/>
        </p:nvSpPr>
        <p:spPr>
          <a:xfrm>
            <a:off x="26805" y="6352847"/>
            <a:ext cx="1317990" cy="461665"/>
          </a:xfrm>
          <a:prstGeom prst="rect">
            <a:avLst/>
          </a:prstGeom>
          <a:noFill/>
        </p:spPr>
        <p:txBody>
          <a:bodyPr wrap="none" rtlCol="0">
            <a:spAutoFit/>
          </a:bodyPr>
          <a:lstStyle/>
          <a:p>
            <a:r>
              <a:rPr lang="en-US" altLang="zh-CN" sz="1200" dirty="0"/>
              <a:t>u299034j</a:t>
            </a:r>
          </a:p>
          <a:p>
            <a:r>
              <a:rPr lang="en-US" altLang="zh-CN" sz="1200" dirty="0"/>
              <a:t>CHEN WENTAO</a:t>
            </a:r>
            <a:endParaRPr lang="zh-CN" alt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marL="0" indent="0">
              <a:buNone/>
            </a:pPr>
            <a:r>
              <a:rPr lang="en-US" sz="2400" b="1" dirty="0">
                <a:solidFill>
                  <a:srgbClr val="1F4E79"/>
                </a:solidFill>
                <a:latin typeface="Yu Gothic" pitchFamily="34" charset="0"/>
                <a:ea typeface="Yu Gothic" pitchFamily="34" charset="-122"/>
                <a:cs typeface="Yu Gothic" pitchFamily="34" charset="-120"/>
              </a:rPr>
              <a:t>データ設計</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marL="0" indent="0">
              <a:buNone/>
            </a:pPr>
            <a:r>
              <a:rPr lang="en-US" sz="1200" dirty="0">
                <a:solidFill>
                  <a:srgbClr val="666666"/>
                </a:solidFill>
                <a:latin typeface="Yu Gothic" pitchFamily="34" charset="0"/>
                <a:ea typeface="Yu Gothic" pitchFamily="34" charset="-122"/>
                <a:cs typeface="Yu Gothic" pitchFamily="34" charset="-120"/>
              </a:rPr>
              <a:t>raw text から cleaned text、さらに98 chunkへ</a:t>
            </a:r>
            <a:endParaRPr lang="en-US" sz="1200" dirty="0"/>
          </a:p>
        </p:txBody>
      </p:sp>
      <p:sp>
        <p:nvSpPr>
          <p:cNvPr id="4" name="Text 2"/>
          <p:cNvSpPr/>
          <p:nvPr/>
        </p:nvSpPr>
        <p:spPr>
          <a:xfrm>
            <a:off x="685800" y="1188720"/>
            <a:ext cx="2011680" cy="502920"/>
          </a:xfrm>
          <a:prstGeom prst="rect">
            <a:avLst/>
          </a:prstGeom>
          <a:solidFill>
            <a:srgbClr val="F6F6F6"/>
          </a:solidFill>
          <a:ln w="12700">
            <a:solidFill>
              <a:srgbClr val="D7D7D7"/>
            </a:solidFill>
          </a:ln>
        </p:spPr>
        <p:txBody>
          <a:bodyPr wrap="square" lIns="1016" tIns="1016" rIns="1016" bIns="1016" rtlCol="0" anchor="ctr">
            <a:normAutofit/>
          </a:bodyPr>
          <a:lstStyle/>
          <a:p>
            <a:pPr marL="0" indent="0" algn="ctr">
              <a:buNone/>
            </a:pPr>
            <a:r>
              <a:rPr lang="en-US" sz="1400" b="1" dirty="0">
                <a:solidFill>
                  <a:srgbClr val="222222"/>
                </a:solidFill>
                <a:latin typeface="Yu Gothic" pitchFamily="34" charset="0"/>
                <a:ea typeface="Yu Gothic" pitchFamily="34" charset="-122"/>
                <a:cs typeface="Yu Gothic" pitchFamily="34" charset="-120"/>
              </a:rPr>
              <a:t>raw HTML / PDF</a:t>
            </a:r>
            <a:endParaRPr lang="en-US" sz="1400" dirty="0"/>
          </a:p>
        </p:txBody>
      </p:sp>
      <p:sp>
        <p:nvSpPr>
          <p:cNvPr id="5" name="Text 3"/>
          <p:cNvSpPr/>
          <p:nvPr/>
        </p:nvSpPr>
        <p:spPr>
          <a:xfrm>
            <a:off x="2971800" y="1188720"/>
            <a:ext cx="1645920" cy="502920"/>
          </a:xfrm>
          <a:prstGeom prst="rect">
            <a:avLst/>
          </a:prstGeom>
          <a:solidFill>
            <a:srgbClr val="F6F6F6"/>
          </a:solidFill>
          <a:ln w="12700">
            <a:solidFill>
              <a:srgbClr val="D7D7D7"/>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本文抽出</a:t>
            </a:r>
            <a:endParaRPr lang="en-US" sz="1600" dirty="0"/>
          </a:p>
        </p:txBody>
      </p:sp>
      <p:sp>
        <p:nvSpPr>
          <p:cNvPr id="6" name="Text 4"/>
          <p:cNvSpPr/>
          <p:nvPr/>
        </p:nvSpPr>
        <p:spPr>
          <a:xfrm>
            <a:off x="4892040" y="1188720"/>
            <a:ext cx="1920240" cy="502920"/>
          </a:xfrm>
          <a:prstGeom prst="rect">
            <a:avLst/>
          </a:prstGeom>
          <a:solidFill>
            <a:srgbClr val="F6F6F6"/>
          </a:solidFill>
          <a:ln w="12700">
            <a:solidFill>
              <a:srgbClr val="D7D7D7"/>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cleaned text</a:t>
            </a:r>
            <a:endParaRPr lang="en-US" sz="1600" dirty="0"/>
          </a:p>
        </p:txBody>
      </p:sp>
      <p:sp>
        <p:nvSpPr>
          <p:cNvPr id="7" name="Text 5"/>
          <p:cNvSpPr/>
          <p:nvPr/>
        </p:nvSpPr>
        <p:spPr>
          <a:xfrm>
            <a:off x="7086600" y="1188720"/>
            <a:ext cx="1737360" cy="502920"/>
          </a:xfrm>
          <a:prstGeom prst="rect">
            <a:avLst/>
          </a:prstGeom>
          <a:solidFill>
            <a:srgbClr val="F3F8FC"/>
          </a:solidFill>
          <a:ln w="12700">
            <a:solidFill>
              <a:srgbClr val="D7D7D7"/>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98 chunks</a:t>
            </a:r>
            <a:endParaRPr lang="en-US" sz="1600" dirty="0"/>
          </a:p>
        </p:txBody>
      </p:sp>
      <p:sp>
        <p:nvSpPr>
          <p:cNvPr id="8" name="Text 6"/>
          <p:cNvSpPr/>
          <p:nvPr/>
        </p:nvSpPr>
        <p:spPr>
          <a:xfrm>
            <a:off x="9098280" y="1188720"/>
            <a:ext cx="1737360" cy="502920"/>
          </a:xfrm>
          <a:prstGeom prst="rect">
            <a:avLst/>
          </a:prstGeom>
          <a:solidFill>
            <a:srgbClr val="F3F8FC"/>
          </a:solidFill>
          <a:ln w="12700">
            <a:solidFill>
              <a:srgbClr val="D7D7D7"/>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分析単位</a:t>
            </a:r>
            <a:endParaRPr lang="en-US" sz="1350" dirty="0"/>
          </a:p>
        </p:txBody>
      </p:sp>
      <p:sp>
        <p:nvSpPr>
          <p:cNvPr id="9" name="Text 7"/>
          <p:cNvSpPr/>
          <p:nvPr/>
        </p:nvSpPr>
        <p:spPr>
          <a:xfrm>
            <a:off x="2724912" y="1298448"/>
            <a:ext cx="228600" cy="201168"/>
          </a:xfrm>
          <a:prstGeom prst="rect">
            <a:avLst/>
          </a:prstGeom>
          <a:noFill/>
          <a:ln/>
        </p:spPr>
        <p:txBody>
          <a:bodyPr wrap="square" lIns="0" tIns="0" rIns="0" bIns="0" rtlCol="0" anchor="ctr"/>
          <a:lstStyle/>
          <a:p>
            <a:pPr marL="0" indent="0">
              <a:buNone/>
            </a:pPr>
            <a:r>
              <a:rPr lang="en-US" sz="1600" dirty="0">
                <a:solidFill>
                  <a:srgbClr val="666666"/>
                </a:solidFill>
              </a:rPr>
              <a:t>→</a:t>
            </a:r>
            <a:endParaRPr lang="en-US" sz="1600" dirty="0"/>
          </a:p>
        </p:txBody>
      </p:sp>
      <p:sp>
        <p:nvSpPr>
          <p:cNvPr id="10" name="Text 8"/>
          <p:cNvSpPr/>
          <p:nvPr/>
        </p:nvSpPr>
        <p:spPr>
          <a:xfrm>
            <a:off x="4645152" y="1298448"/>
            <a:ext cx="228600" cy="201168"/>
          </a:xfrm>
          <a:prstGeom prst="rect">
            <a:avLst/>
          </a:prstGeom>
          <a:noFill/>
          <a:ln/>
        </p:spPr>
        <p:txBody>
          <a:bodyPr wrap="square" lIns="0" tIns="0" rIns="0" bIns="0" rtlCol="0" anchor="ctr"/>
          <a:lstStyle/>
          <a:p>
            <a:pPr marL="0" indent="0">
              <a:buNone/>
            </a:pPr>
            <a:r>
              <a:rPr lang="en-US" sz="1600" dirty="0">
                <a:solidFill>
                  <a:srgbClr val="666666"/>
                </a:solidFill>
              </a:rPr>
              <a:t>→</a:t>
            </a:r>
            <a:endParaRPr lang="en-US" sz="1600" dirty="0"/>
          </a:p>
        </p:txBody>
      </p:sp>
      <p:sp>
        <p:nvSpPr>
          <p:cNvPr id="11" name="Text 9"/>
          <p:cNvSpPr/>
          <p:nvPr/>
        </p:nvSpPr>
        <p:spPr>
          <a:xfrm>
            <a:off x="6839712" y="1298448"/>
            <a:ext cx="228600" cy="201168"/>
          </a:xfrm>
          <a:prstGeom prst="rect">
            <a:avLst/>
          </a:prstGeom>
          <a:noFill/>
          <a:ln/>
        </p:spPr>
        <p:txBody>
          <a:bodyPr wrap="square" lIns="0" tIns="0" rIns="0" bIns="0" rtlCol="0" anchor="ctr"/>
          <a:lstStyle/>
          <a:p>
            <a:pPr marL="0" indent="0">
              <a:buNone/>
            </a:pPr>
            <a:r>
              <a:rPr lang="en-US" sz="1600" dirty="0">
                <a:solidFill>
                  <a:srgbClr val="666666"/>
                </a:solidFill>
              </a:rPr>
              <a:t>→</a:t>
            </a:r>
            <a:endParaRPr lang="en-US" sz="1600" dirty="0"/>
          </a:p>
        </p:txBody>
      </p:sp>
      <p:sp>
        <p:nvSpPr>
          <p:cNvPr id="12" name="Text 10"/>
          <p:cNvSpPr/>
          <p:nvPr/>
        </p:nvSpPr>
        <p:spPr>
          <a:xfrm>
            <a:off x="8851392" y="1298448"/>
            <a:ext cx="228600" cy="201168"/>
          </a:xfrm>
          <a:prstGeom prst="rect">
            <a:avLst/>
          </a:prstGeom>
          <a:noFill/>
          <a:ln/>
        </p:spPr>
        <p:txBody>
          <a:bodyPr wrap="square" lIns="0" tIns="0" rIns="0" bIns="0" rtlCol="0" anchor="ctr"/>
          <a:lstStyle/>
          <a:p>
            <a:pPr marL="0" indent="0">
              <a:buNone/>
            </a:pPr>
            <a:r>
              <a:rPr lang="en-US" sz="1600" dirty="0">
                <a:solidFill>
                  <a:srgbClr val="666666"/>
                </a:solidFill>
              </a:rPr>
              <a:t>→</a:t>
            </a:r>
            <a:endParaRPr lang="en-US" sz="1600" dirty="0"/>
          </a:p>
        </p:txBody>
      </p:sp>
      <p:sp>
        <p:nvSpPr>
          <p:cNvPr id="13" name="Text 11"/>
          <p:cNvSpPr/>
          <p:nvPr/>
        </p:nvSpPr>
        <p:spPr>
          <a:xfrm>
            <a:off x="822960" y="2331720"/>
            <a:ext cx="1097280" cy="320040"/>
          </a:xfrm>
          <a:prstGeom prst="rect">
            <a:avLst/>
          </a:prstGeom>
          <a:noFill/>
          <a:ln/>
        </p:spPr>
        <p:txBody>
          <a:bodyPr wrap="square" lIns="1016" tIns="1016" rIns="1016" bIns="1016" rtlCol="0" anchor="ctr">
            <a:normAutofit/>
          </a:bodyPr>
          <a:lstStyle/>
          <a:p>
            <a:pPr marL="0" indent="0" algn="l">
              <a:buNone/>
            </a:pPr>
            <a:r>
              <a:rPr lang="en-US" sz="1500" b="1" dirty="0">
                <a:solidFill>
                  <a:srgbClr val="1F4E79"/>
                </a:solidFill>
                <a:latin typeface="Yu Gothic" pitchFamily="34" charset="0"/>
                <a:ea typeface="Yu Gothic" pitchFamily="34" charset="-122"/>
                <a:cs typeface="Yu Gothic" pitchFamily="34" charset="-120"/>
              </a:rPr>
              <a:t>文書</a:t>
            </a:r>
            <a:endParaRPr lang="en-US" sz="1500" dirty="0"/>
          </a:p>
        </p:txBody>
      </p:sp>
      <p:sp>
        <p:nvSpPr>
          <p:cNvPr id="14" name="Text 12"/>
          <p:cNvSpPr/>
          <p:nvPr/>
        </p:nvSpPr>
        <p:spPr>
          <a:xfrm>
            <a:off x="822960" y="2743200"/>
            <a:ext cx="4570134" cy="1197864"/>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l">
              <a:buNone/>
            </a:pPr>
            <a:r>
              <a:rPr lang="en-US" sz="2000" dirty="0">
                <a:solidFill>
                  <a:srgbClr val="222222"/>
                </a:solidFill>
                <a:latin typeface="Yu Gothic" pitchFamily="34" charset="0"/>
                <a:ea typeface="Yu Gothic" pitchFamily="34" charset="-122"/>
                <a:cs typeface="Yu Gothic" pitchFamily="34" charset="-120"/>
              </a:rPr>
              <a:t>政策声明 2件：2024/1/23、2024/3/19</a:t>
            </a:r>
            <a:endParaRPr lang="en-US" sz="2000" dirty="0"/>
          </a:p>
          <a:p>
            <a:pPr marL="0" indent="0" algn="l">
              <a:buNone/>
            </a:pPr>
            <a:r>
              <a:rPr lang="en-US" sz="2000" dirty="0">
                <a:solidFill>
                  <a:srgbClr val="222222"/>
                </a:solidFill>
                <a:latin typeface="Yu Gothic" pitchFamily="34" charset="0"/>
                <a:ea typeface="Yu Gothic" pitchFamily="34" charset="-122"/>
                <a:cs typeface="Yu Gothic" pitchFamily="34" charset="-120"/>
              </a:rPr>
              <a:t>講演 2件：2024/2/8、2024/5/8</a:t>
            </a:r>
            <a:endParaRPr lang="en-US" sz="2000" dirty="0"/>
          </a:p>
        </p:txBody>
      </p:sp>
      <p:sp>
        <p:nvSpPr>
          <p:cNvPr id="15" name="Text 13"/>
          <p:cNvSpPr/>
          <p:nvPr/>
        </p:nvSpPr>
        <p:spPr>
          <a:xfrm>
            <a:off x="5715000" y="2331720"/>
            <a:ext cx="1280160" cy="320040"/>
          </a:xfrm>
          <a:prstGeom prst="rect">
            <a:avLst/>
          </a:prstGeom>
          <a:noFill/>
          <a:ln/>
        </p:spPr>
        <p:txBody>
          <a:bodyPr wrap="square" lIns="1016" tIns="1016" rIns="1016" bIns="1016" rtlCol="0" anchor="ctr">
            <a:normAutofit/>
          </a:bodyPr>
          <a:lstStyle/>
          <a:p>
            <a:pPr marL="0" indent="0" algn="l">
              <a:buNone/>
            </a:pPr>
            <a:r>
              <a:rPr lang="en-US" sz="1500" b="1" dirty="0">
                <a:solidFill>
                  <a:srgbClr val="1F4E79"/>
                </a:solidFill>
                <a:latin typeface="Yu Gothic" pitchFamily="34" charset="0"/>
                <a:ea typeface="Yu Gothic" pitchFamily="34" charset="-122"/>
                <a:cs typeface="Yu Gothic" pitchFamily="34" charset="-120"/>
              </a:rPr>
              <a:t>cleaning</a:t>
            </a:r>
            <a:endParaRPr lang="en-US" sz="1500" dirty="0"/>
          </a:p>
        </p:txBody>
      </p:sp>
      <p:sp>
        <p:nvSpPr>
          <p:cNvPr id="16" name="Text 14"/>
          <p:cNvSpPr/>
          <p:nvPr/>
        </p:nvSpPr>
        <p:spPr>
          <a:xfrm>
            <a:off x="5715000" y="2761488"/>
            <a:ext cx="4480560" cy="960120"/>
          </a:xfrm>
          <a:prstGeom prst="rect">
            <a:avLst/>
          </a:prstGeom>
          <a:noFill/>
          <a:ln/>
        </p:spPr>
        <p:txBody>
          <a:bodyPr wrap="square" lIns="254" tIns="254" rIns="254" bIns="254" rtlCol="0" anchor="ctr">
            <a:normAutofit/>
          </a:bodyPr>
          <a:lstStyle/>
          <a:p>
            <a:pPr marL="0" indent="0">
              <a:buNone/>
            </a:pPr>
            <a:r>
              <a:rPr lang="en-US" sz="2000" dirty="0">
                <a:solidFill>
                  <a:srgbClr val="222222"/>
                </a:solidFill>
                <a:latin typeface="Yu Gothic" pitchFamily="34" charset="0"/>
                <a:ea typeface="Yu Gothic" pitchFamily="34" charset="-122"/>
                <a:cs typeface="Yu Gothic" pitchFamily="34" charset="-120"/>
              </a:rPr>
              <a:t>• ウェブナビ・脚注・参考資料を除去</a:t>
            </a:r>
            <a:endParaRPr lang="en-US" sz="2000" dirty="0"/>
          </a:p>
          <a:p>
            <a:pPr marL="0" indent="0">
              <a:buNone/>
            </a:pPr>
            <a:r>
              <a:rPr lang="en-US" sz="2000" dirty="0">
                <a:solidFill>
                  <a:srgbClr val="222222"/>
                </a:solidFill>
                <a:latin typeface="Yu Gothic" pitchFamily="34" charset="0"/>
                <a:ea typeface="Yu Gothic" pitchFamily="34" charset="-122"/>
                <a:cs typeface="Yu Gothic" pitchFamily="34" charset="-120"/>
              </a:rPr>
              <a:t>• 政策本文・講演本文は保持</a:t>
            </a:r>
            <a:endParaRPr lang="en-US" sz="2000" dirty="0"/>
          </a:p>
          <a:p>
            <a:pPr marL="0" indent="0">
              <a:buNone/>
            </a:pPr>
            <a:r>
              <a:rPr lang="en-US" sz="2000" dirty="0">
                <a:solidFill>
                  <a:srgbClr val="222222"/>
                </a:solidFill>
                <a:latin typeface="Yu Gothic" pitchFamily="34" charset="0"/>
                <a:ea typeface="Yu Gothic" pitchFamily="34" charset="-122"/>
                <a:cs typeface="Yu Gothic" pitchFamily="34" charset="-120"/>
              </a:rPr>
              <a:t>• 原文順序を維持</a:t>
            </a:r>
            <a:endParaRPr lang="en-US" sz="2000" dirty="0"/>
          </a:p>
        </p:txBody>
      </p:sp>
      <p:sp>
        <p:nvSpPr>
          <p:cNvPr id="17" name="Text 15"/>
          <p:cNvSpPr/>
          <p:nvPr/>
        </p:nvSpPr>
        <p:spPr>
          <a:xfrm>
            <a:off x="822960" y="4251960"/>
            <a:ext cx="1371600" cy="320040"/>
          </a:xfrm>
          <a:prstGeom prst="rect">
            <a:avLst/>
          </a:prstGeom>
          <a:noFill/>
          <a:ln/>
        </p:spPr>
        <p:txBody>
          <a:bodyPr wrap="square" lIns="1016" tIns="1016" rIns="1016" bIns="1016" rtlCol="0" anchor="ctr">
            <a:normAutofit/>
          </a:bodyPr>
          <a:lstStyle/>
          <a:p>
            <a:pPr marL="0" indent="0" algn="l">
              <a:buNone/>
            </a:pPr>
            <a:r>
              <a:rPr lang="en-US" sz="1500" b="1" dirty="0">
                <a:solidFill>
                  <a:srgbClr val="1F4E79"/>
                </a:solidFill>
                <a:latin typeface="Yu Gothic" pitchFamily="34" charset="0"/>
                <a:ea typeface="Yu Gothic" pitchFamily="34" charset="-122"/>
                <a:cs typeface="Yu Gothic" pitchFamily="34" charset="-120"/>
              </a:rPr>
              <a:t>chunk生成</a:t>
            </a:r>
            <a:endParaRPr lang="en-US" sz="1500" dirty="0"/>
          </a:p>
        </p:txBody>
      </p:sp>
      <p:sp>
        <p:nvSpPr>
          <p:cNvPr id="18" name="Text 16"/>
          <p:cNvSpPr/>
          <p:nvPr/>
        </p:nvSpPr>
        <p:spPr>
          <a:xfrm>
            <a:off x="822960" y="4663440"/>
            <a:ext cx="4526280" cy="868680"/>
          </a:xfrm>
          <a:prstGeom prst="rect">
            <a:avLst/>
          </a:prstGeom>
          <a:noFill/>
          <a:ln/>
        </p:spPr>
        <p:txBody>
          <a:bodyPr wrap="square" lIns="254" tIns="254" rIns="254" bIns="254" rtlCol="0" anchor="ctr">
            <a:normAutofit/>
          </a:bodyPr>
          <a:lstStyle/>
          <a:p>
            <a:pPr marL="0" indent="0">
              <a:buNone/>
            </a:pPr>
            <a:r>
              <a:rPr lang="en-US" dirty="0">
                <a:solidFill>
                  <a:srgbClr val="222222"/>
                </a:solidFill>
                <a:latin typeface="Yu Gothic" pitchFamily="34" charset="0"/>
                <a:ea typeface="Yu Gothic" pitchFamily="34" charset="-122"/>
                <a:cs typeface="Yu Gothic" pitchFamily="34" charset="-120"/>
              </a:rPr>
              <a:t>• 自然段落を基本単位</a:t>
            </a:r>
            <a:endParaRPr lang="en-US" dirty="0"/>
          </a:p>
          <a:p>
            <a:pPr marL="0" indent="0">
              <a:buNone/>
            </a:pPr>
            <a:r>
              <a:rPr lang="en-US" dirty="0">
                <a:solidFill>
                  <a:srgbClr val="222222"/>
                </a:solidFill>
                <a:latin typeface="Yu Gothic" pitchFamily="34" charset="0"/>
                <a:ea typeface="Yu Gothic" pitchFamily="34" charset="-122"/>
                <a:cs typeface="Yu Gothic" pitchFamily="34" charset="-120"/>
              </a:rPr>
              <a:t>• 短い段落は結合、長い段落は句点で分割</a:t>
            </a:r>
            <a:endParaRPr lang="en-US" dirty="0"/>
          </a:p>
          <a:p>
            <a:pPr marL="0" indent="0">
              <a:buNone/>
            </a:pPr>
            <a:r>
              <a:rPr lang="en-US" dirty="0">
                <a:solidFill>
                  <a:srgbClr val="222222"/>
                </a:solidFill>
                <a:latin typeface="Yu Gothic" pitchFamily="34" charset="0"/>
                <a:ea typeface="Yu Gothic" pitchFamily="34" charset="-122"/>
                <a:cs typeface="Yu Gothic" pitchFamily="34" charset="-120"/>
              </a:rPr>
              <a:t>• 文の途中では切らない</a:t>
            </a:r>
            <a:endParaRPr lang="en-US" dirty="0"/>
          </a:p>
        </p:txBody>
      </p:sp>
      <p:sp>
        <p:nvSpPr>
          <p:cNvPr id="19" name="Text 17"/>
          <p:cNvSpPr/>
          <p:nvPr/>
        </p:nvSpPr>
        <p:spPr>
          <a:xfrm>
            <a:off x="5715000" y="4251960"/>
            <a:ext cx="1828800" cy="320040"/>
          </a:xfrm>
          <a:prstGeom prst="rect">
            <a:avLst/>
          </a:prstGeom>
          <a:noFill/>
          <a:ln/>
        </p:spPr>
        <p:txBody>
          <a:bodyPr wrap="square" lIns="1016" tIns="1016" rIns="1016" bIns="1016" rtlCol="0" anchor="ctr">
            <a:normAutofit fontScale="92500"/>
          </a:bodyPr>
          <a:lstStyle/>
          <a:p>
            <a:pPr marL="0" indent="0" algn="l">
              <a:buNone/>
            </a:pPr>
            <a:r>
              <a:rPr lang="en-US" sz="1500" b="1" dirty="0">
                <a:solidFill>
                  <a:srgbClr val="1F4E79"/>
                </a:solidFill>
                <a:latin typeface="Yu Gothic" pitchFamily="34" charset="0"/>
                <a:ea typeface="Yu Gothic" pitchFamily="34" charset="-122"/>
                <a:cs typeface="Yu Gothic" pitchFamily="34" charset="-120"/>
              </a:rPr>
              <a:t>%(</a:t>
            </a:r>
            <a:r>
              <a:rPr lang="ja-JP" altLang="en-US" sz="1500" b="1" dirty="0">
                <a:solidFill>
                  <a:srgbClr val="1F4E79"/>
                </a:solidFill>
                <a:latin typeface="Yu Gothic" pitchFamily="34" charset="0"/>
                <a:ea typeface="Yu Gothic" pitchFamily="34" charset="-122"/>
                <a:cs typeface="Yu Gothic" pitchFamily="34" charset="-120"/>
              </a:rPr>
              <a:t>ラベル</a:t>
            </a:r>
            <a:r>
              <a:rPr lang="zh-CN" altLang="en-US" sz="1500" b="1" dirty="0">
                <a:solidFill>
                  <a:srgbClr val="1F4E79"/>
                </a:solidFill>
                <a:latin typeface="Yu Gothic" pitchFamily="34" charset="0"/>
                <a:ea typeface="Yu Gothic" pitchFamily="34" charset="-122"/>
                <a:cs typeface="Yu Gothic" pitchFamily="34" charset="-120"/>
              </a:rPr>
              <a:t>割合</a:t>
            </a:r>
            <a:r>
              <a:rPr lang="en-US" sz="1500" b="1" dirty="0">
                <a:solidFill>
                  <a:srgbClr val="1F4E79"/>
                </a:solidFill>
                <a:latin typeface="Yu Gothic" pitchFamily="34" charset="0"/>
                <a:ea typeface="Yu Gothic" pitchFamily="34" charset="-122"/>
                <a:cs typeface="Yu Gothic" pitchFamily="34" charset="-120"/>
              </a:rPr>
              <a:t>) </a:t>
            </a:r>
            <a:r>
              <a:rPr lang="en-US" sz="1500" b="1" dirty="0" err="1">
                <a:solidFill>
                  <a:srgbClr val="1F4E79"/>
                </a:solidFill>
                <a:latin typeface="Yu Gothic" pitchFamily="34" charset="0"/>
                <a:ea typeface="Yu Gothic" pitchFamily="34" charset="-122"/>
                <a:cs typeface="Yu Gothic" pitchFamily="34" charset="-120"/>
              </a:rPr>
              <a:t>の意味</a:t>
            </a:r>
            <a:endParaRPr lang="en-US" sz="1500" dirty="0"/>
          </a:p>
        </p:txBody>
      </p:sp>
      <p:sp>
        <p:nvSpPr>
          <p:cNvPr id="20" name="Text 18"/>
          <p:cNvSpPr/>
          <p:nvPr/>
        </p:nvSpPr>
        <p:spPr>
          <a:xfrm>
            <a:off x="5715000" y="4617720"/>
            <a:ext cx="5074920" cy="1241904"/>
          </a:xfrm>
          <a:prstGeom prst="rect">
            <a:avLst/>
          </a:prstGeom>
          <a:solidFill>
            <a:srgbClr val="FFF7EF"/>
          </a:solidFill>
          <a:ln w="12700">
            <a:solidFill>
              <a:srgbClr val="EBC9A8"/>
            </a:solidFill>
          </a:ln>
        </p:spPr>
        <p:txBody>
          <a:bodyPr wrap="square" lIns="1016" tIns="1016" rIns="1016" bIns="1016" rtlCol="0" anchor="ctr">
            <a:normAutofit/>
          </a:bodyPr>
          <a:lstStyle/>
          <a:p>
            <a:pPr marL="0" indent="0" algn="l">
              <a:buNone/>
            </a:pPr>
            <a:r>
              <a:rPr lang="en-US" dirty="0">
                <a:solidFill>
                  <a:srgbClr val="222222"/>
                </a:solidFill>
                <a:latin typeface="Yu Gothic" pitchFamily="34" charset="0"/>
                <a:ea typeface="Yu Gothic" pitchFamily="34" charset="-122"/>
                <a:cs typeface="Yu Gothic" pitchFamily="34" charset="-120"/>
              </a:rPr>
              <a:t>各文書内でラベル割合を計算し、文書タイプごとに平均。</a:t>
            </a:r>
            <a:endParaRPr lang="en-US" dirty="0"/>
          </a:p>
          <a:p>
            <a:pPr marL="0" indent="0" algn="l">
              <a:buNone/>
            </a:pPr>
            <a:r>
              <a:rPr lang="en-US" dirty="0">
                <a:solidFill>
                  <a:srgbClr val="222222"/>
                </a:solidFill>
                <a:latin typeface="Yu Gothic" pitchFamily="34" charset="0"/>
                <a:ea typeface="Yu Gothic" pitchFamily="34" charset="-122"/>
                <a:cs typeface="Yu Gothic" pitchFamily="34" charset="-120"/>
              </a:rPr>
              <a:t>長い講演が結果を支配しないよう、各文書に同じ重みを与えた。</a:t>
            </a:r>
            <a:endParaRPr lang="en-US" dirty="0"/>
          </a:p>
        </p:txBody>
      </p:sp>
      <p:sp>
        <p:nvSpPr>
          <p:cNvPr id="21" name="Text 19"/>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3/9</a:t>
            </a:r>
            <a:endParaRPr lang="en-US" sz="800" dirty="0"/>
          </a:p>
        </p:txBody>
      </p:sp>
      <p:sp>
        <p:nvSpPr>
          <p:cNvPr id="27" name="文本框 26">
            <a:extLst>
              <a:ext uri="{FF2B5EF4-FFF2-40B4-BE49-F238E27FC236}">
                <a16:creationId xmlns:a16="http://schemas.microsoft.com/office/drawing/2014/main" id="{F306F23A-8750-1D04-A6E5-0B22C8B3C881}"/>
              </a:ext>
            </a:extLst>
          </p:cNvPr>
          <p:cNvSpPr txBox="1"/>
          <p:nvPr/>
        </p:nvSpPr>
        <p:spPr>
          <a:xfrm>
            <a:off x="60027" y="6321386"/>
            <a:ext cx="6096000" cy="461665"/>
          </a:xfrm>
          <a:prstGeom prst="rect">
            <a:avLst/>
          </a:prstGeom>
          <a:noFill/>
        </p:spPr>
        <p:txBody>
          <a:bodyPr wrap="square">
            <a:spAutoFit/>
          </a:bodyPr>
          <a:lstStyle/>
          <a:p>
            <a:r>
              <a:rPr lang="en-US" altLang="zh-CN" sz="1200" dirty="0"/>
              <a:t>u299034j</a:t>
            </a:r>
          </a:p>
          <a:p>
            <a:r>
              <a:rPr lang="en-US" altLang="zh-CN" sz="1200" dirty="0"/>
              <a:t>CHEN WENTAO</a:t>
            </a:r>
            <a:endParaRPr lang="zh-CN"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11155680" cy="457200"/>
          </a:xfrm>
          <a:prstGeom prst="rect">
            <a:avLst/>
          </a:prstGeom>
          <a:noFill/>
          <a:ln/>
        </p:spPr>
        <p:txBody>
          <a:bodyPr wrap="square" lIns="0" tIns="0" rIns="0" bIns="0" rtlCol="0" anchor="ctr">
            <a:normAutofit/>
          </a:bodyPr>
          <a:lstStyle/>
          <a:p>
            <a:pPr marL="0" indent="0">
              <a:buNone/>
            </a:pPr>
            <a:r>
              <a:rPr lang="ja-JP" altLang="en-US" sz="2800" b="1" dirty="0">
                <a:solidFill>
                  <a:srgbClr val="1F4E79"/>
                </a:solidFill>
                <a:latin typeface="Yu Gothic" pitchFamily="34" charset="0"/>
                <a:ea typeface="Yu Gothic" pitchFamily="34" charset="-122"/>
                <a:cs typeface="Yu Gothic" pitchFamily="34" charset="-120"/>
              </a:rPr>
              <a:t>分析</a:t>
            </a:r>
            <a:r>
              <a:rPr lang="en-US" sz="2800" b="1" dirty="0" err="1">
                <a:solidFill>
                  <a:srgbClr val="1F4E79"/>
                </a:solidFill>
                <a:latin typeface="Yu Gothic" pitchFamily="34" charset="0"/>
                <a:ea typeface="Yu Gothic" pitchFamily="34" charset="-122"/>
                <a:cs typeface="Yu Gothic" pitchFamily="34" charset="-120"/>
              </a:rPr>
              <a:t>手法</a:t>
            </a:r>
            <a:endParaRPr lang="en-US" sz="2800" dirty="0"/>
          </a:p>
        </p:txBody>
      </p:sp>
      <p:sp>
        <p:nvSpPr>
          <p:cNvPr id="3" name="Text 1"/>
          <p:cNvSpPr/>
          <p:nvPr/>
        </p:nvSpPr>
        <p:spPr>
          <a:xfrm>
            <a:off x="530352" y="795528"/>
            <a:ext cx="10972800" cy="256032"/>
          </a:xfrm>
          <a:prstGeom prst="rect">
            <a:avLst/>
          </a:prstGeom>
          <a:noFill/>
          <a:ln/>
        </p:spPr>
        <p:txBody>
          <a:bodyPr wrap="square" lIns="0" tIns="0" rIns="0" bIns="0" rtlCol="0" anchor="ctr">
            <a:normAutofit/>
          </a:bodyPr>
          <a:lstStyle/>
          <a:p>
            <a:pPr marL="0" indent="0">
              <a:buNone/>
            </a:pPr>
            <a:r>
              <a:rPr lang="en-US" sz="1200" dirty="0">
                <a:solidFill>
                  <a:srgbClr val="666666"/>
                </a:solidFill>
                <a:latin typeface="Yu Gothic" pitchFamily="34" charset="0"/>
                <a:ea typeface="Yu Gothic" pitchFamily="34" charset="-122"/>
                <a:cs typeface="Yu Gothic" pitchFamily="34" charset="-120"/>
              </a:rPr>
              <a:t>同じchunkを、語彙・意味・文脈の3層から見る</a:t>
            </a:r>
            <a:endParaRPr lang="en-US" sz="1200" dirty="0"/>
          </a:p>
        </p:txBody>
      </p:sp>
      <p:sp>
        <p:nvSpPr>
          <p:cNvPr id="4" name="Text 2"/>
          <p:cNvSpPr/>
          <p:nvPr/>
        </p:nvSpPr>
        <p:spPr>
          <a:xfrm>
            <a:off x="685800" y="1234440"/>
            <a:ext cx="2834640" cy="438912"/>
          </a:xfrm>
          <a:prstGeom prst="rect">
            <a:avLst/>
          </a:prstGeom>
          <a:solidFill>
            <a:srgbClr val="1F4E79"/>
          </a:solidFill>
          <a:ln/>
        </p:spPr>
        <p:txBody>
          <a:bodyPr wrap="square" lIns="1016" tIns="1016" rIns="1016" bIns="1016" rtlCol="0" anchor="ctr">
            <a:normAutofit/>
          </a:bodyPr>
          <a:lstStyle/>
          <a:p>
            <a:pPr marL="0" indent="0" algn="ctr">
              <a:buNone/>
            </a:pPr>
            <a:r>
              <a:rPr lang="en-US" sz="1800" b="1" dirty="0">
                <a:solidFill>
                  <a:srgbClr val="FFFFFF"/>
                </a:solidFill>
                <a:latin typeface="Yu Gothic" pitchFamily="34" charset="0"/>
                <a:ea typeface="Yu Gothic" pitchFamily="34" charset="-122"/>
                <a:cs typeface="Yu Gothic" pitchFamily="34" charset="-120"/>
              </a:rPr>
              <a:t>TF-IDF</a:t>
            </a:r>
            <a:endParaRPr lang="en-US" sz="1800" dirty="0"/>
          </a:p>
        </p:txBody>
      </p:sp>
      <p:sp>
        <p:nvSpPr>
          <p:cNvPr id="5" name="Text 3"/>
          <p:cNvSpPr/>
          <p:nvPr/>
        </p:nvSpPr>
        <p:spPr>
          <a:xfrm>
            <a:off x="685800" y="1810512"/>
            <a:ext cx="2834640" cy="411480"/>
          </a:xfrm>
          <a:prstGeom prst="rect">
            <a:avLst/>
          </a:prstGeom>
          <a:solidFill>
            <a:srgbClr val="F3F8FC"/>
          </a:solidFill>
          <a:ln w="12700">
            <a:solidFill>
              <a:srgbClr val="B4CDE4"/>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語彙</a:t>
            </a:r>
            <a:endParaRPr lang="en-US" sz="1600" dirty="0"/>
          </a:p>
        </p:txBody>
      </p:sp>
      <p:sp>
        <p:nvSpPr>
          <p:cNvPr id="6" name="Text 4"/>
          <p:cNvSpPr/>
          <p:nvPr/>
        </p:nvSpPr>
        <p:spPr>
          <a:xfrm>
            <a:off x="685799" y="2359152"/>
            <a:ext cx="3320144" cy="960120"/>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ctr">
              <a:buNone/>
            </a:pPr>
            <a:r>
              <a:rPr lang="en-US" sz="2000" dirty="0">
                <a:solidFill>
                  <a:srgbClr val="222222"/>
                </a:solidFill>
                <a:latin typeface="Yu Gothic" pitchFamily="34" charset="0"/>
                <a:ea typeface="Yu Gothic" pitchFamily="34" charset="-122"/>
                <a:cs typeface="Yu Gothic" pitchFamily="34" charset="-120"/>
              </a:rPr>
              <a:t>名詞限定の補助分析で</a:t>
            </a:r>
            <a:endParaRPr lang="en-US" sz="2000" dirty="0"/>
          </a:p>
          <a:p>
            <a:pPr marL="0" indent="0" algn="ctr">
              <a:buNone/>
            </a:pPr>
            <a:r>
              <a:rPr lang="en-US" sz="2000" dirty="0">
                <a:solidFill>
                  <a:srgbClr val="222222"/>
                </a:solidFill>
                <a:latin typeface="Yu Gothic" pitchFamily="34" charset="0"/>
                <a:ea typeface="Yu Gothic" pitchFamily="34" charset="-122"/>
                <a:cs typeface="Yu Gothic" pitchFamily="34" charset="-120"/>
              </a:rPr>
              <a:t>声明−講演の特徴語を比較。</a:t>
            </a:r>
            <a:endParaRPr lang="en-US" sz="2000" dirty="0"/>
          </a:p>
        </p:txBody>
      </p:sp>
      <p:sp>
        <p:nvSpPr>
          <p:cNvPr id="7" name="Text 5"/>
          <p:cNvSpPr/>
          <p:nvPr/>
        </p:nvSpPr>
        <p:spPr>
          <a:xfrm>
            <a:off x="4343400" y="1234440"/>
            <a:ext cx="2834640" cy="438912"/>
          </a:xfrm>
          <a:prstGeom prst="rect">
            <a:avLst/>
          </a:prstGeom>
          <a:solidFill>
            <a:srgbClr val="1F4E79"/>
          </a:solidFill>
          <a:ln/>
        </p:spPr>
        <p:txBody>
          <a:bodyPr wrap="square" lIns="1016" tIns="1016" rIns="1016" bIns="1016" rtlCol="0" anchor="ctr">
            <a:normAutofit/>
          </a:bodyPr>
          <a:lstStyle/>
          <a:p>
            <a:pPr marL="0" indent="0" algn="ctr">
              <a:buNone/>
            </a:pPr>
            <a:r>
              <a:rPr lang="en-US" sz="1800" b="1" dirty="0">
                <a:solidFill>
                  <a:srgbClr val="FFFFFF"/>
                </a:solidFill>
                <a:latin typeface="Yu Gothic" pitchFamily="34" charset="0"/>
                <a:ea typeface="Yu Gothic" pitchFamily="34" charset="-122"/>
                <a:cs typeface="Yu Gothic" pitchFamily="34" charset="-120"/>
              </a:rPr>
              <a:t>Embedding + clustering</a:t>
            </a:r>
            <a:endParaRPr lang="en-US" sz="1800" dirty="0"/>
          </a:p>
        </p:txBody>
      </p:sp>
      <p:sp>
        <p:nvSpPr>
          <p:cNvPr id="8" name="Text 6"/>
          <p:cNvSpPr/>
          <p:nvPr/>
        </p:nvSpPr>
        <p:spPr>
          <a:xfrm>
            <a:off x="4343400" y="1810512"/>
            <a:ext cx="2834640" cy="411480"/>
          </a:xfrm>
          <a:prstGeom prst="rect">
            <a:avLst/>
          </a:prstGeom>
          <a:solidFill>
            <a:srgbClr val="F3F8FC"/>
          </a:solidFill>
          <a:ln w="12700">
            <a:solidFill>
              <a:srgbClr val="B4CDE4"/>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意味的テーマ</a:t>
            </a:r>
            <a:endParaRPr lang="en-US" sz="1600" dirty="0"/>
          </a:p>
        </p:txBody>
      </p:sp>
      <p:sp>
        <p:nvSpPr>
          <p:cNvPr id="9" name="Text 7"/>
          <p:cNvSpPr/>
          <p:nvPr/>
        </p:nvSpPr>
        <p:spPr>
          <a:xfrm>
            <a:off x="4343399" y="2359152"/>
            <a:ext cx="3201955" cy="960120"/>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ctr">
              <a:buNone/>
            </a:pPr>
            <a:r>
              <a:rPr lang="en-US" sz="2000" dirty="0">
                <a:solidFill>
                  <a:srgbClr val="222222"/>
                </a:solidFill>
                <a:latin typeface="Yu Gothic" pitchFamily="34" charset="0"/>
                <a:ea typeface="Yu Gothic" pitchFamily="34" charset="-122"/>
                <a:cs typeface="Yu Gothic" pitchFamily="34" charset="-120"/>
              </a:rPr>
              <a:t>chunkを意味ベクトル化し</a:t>
            </a:r>
            <a:endParaRPr lang="en-US" sz="2000" dirty="0"/>
          </a:p>
          <a:p>
            <a:pPr marL="0" indent="0" algn="ctr">
              <a:buNone/>
            </a:pPr>
            <a:r>
              <a:rPr lang="en-US" sz="2000" dirty="0">
                <a:solidFill>
                  <a:srgbClr val="222222"/>
                </a:solidFill>
                <a:latin typeface="Yu Gothic" pitchFamily="34" charset="0"/>
                <a:ea typeface="Yu Gothic" pitchFamily="34" charset="-122"/>
                <a:cs typeface="Yu Gothic" pitchFamily="34" charset="-120"/>
              </a:rPr>
              <a:t>K-meansで5クラスタへ。</a:t>
            </a:r>
            <a:endParaRPr lang="en-US" sz="2000" dirty="0"/>
          </a:p>
        </p:txBody>
      </p:sp>
      <p:sp>
        <p:nvSpPr>
          <p:cNvPr id="10" name="Text 8"/>
          <p:cNvSpPr/>
          <p:nvPr/>
        </p:nvSpPr>
        <p:spPr>
          <a:xfrm>
            <a:off x="8001000" y="1234440"/>
            <a:ext cx="2834640" cy="438912"/>
          </a:xfrm>
          <a:prstGeom prst="rect">
            <a:avLst/>
          </a:prstGeom>
          <a:solidFill>
            <a:srgbClr val="1F4E79"/>
          </a:solidFill>
          <a:ln/>
        </p:spPr>
        <p:txBody>
          <a:bodyPr wrap="square" lIns="1016" tIns="1016" rIns="1016" bIns="1016" rtlCol="0" anchor="ctr">
            <a:normAutofit/>
          </a:bodyPr>
          <a:lstStyle/>
          <a:p>
            <a:pPr marL="0" indent="0" algn="ctr">
              <a:buNone/>
            </a:pPr>
            <a:r>
              <a:rPr lang="en-US" sz="1800" b="1" dirty="0">
                <a:solidFill>
                  <a:srgbClr val="FFFFFF"/>
                </a:solidFill>
                <a:latin typeface="Yu Gothic" pitchFamily="34" charset="0"/>
                <a:ea typeface="Yu Gothic" pitchFamily="34" charset="-122"/>
                <a:cs typeface="Yu Gothic" pitchFamily="34" charset="-120"/>
              </a:rPr>
              <a:t>生成AI分類</a:t>
            </a:r>
            <a:endParaRPr lang="en-US" sz="1800" dirty="0"/>
          </a:p>
        </p:txBody>
      </p:sp>
      <p:sp>
        <p:nvSpPr>
          <p:cNvPr id="11" name="Text 9"/>
          <p:cNvSpPr/>
          <p:nvPr/>
        </p:nvSpPr>
        <p:spPr>
          <a:xfrm>
            <a:off x="8001000" y="1810512"/>
            <a:ext cx="2834640" cy="411480"/>
          </a:xfrm>
          <a:prstGeom prst="rect">
            <a:avLst/>
          </a:prstGeom>
          <a:solidFill>
            <a:srgbClr val="F3F8FC"/>
          </a:solidFill>
          <a:ln w="12700">
            <a:solidFill>
              <a:srgbClr val="B4CDE4"/>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文脈上の機能・語調</a:t>
            </a:r>
            <a:endParaRPr lang="en-US" sz="1600" dirty="0"/>
          </a:p>
        </p:txBody>
      </p:sp>
      <p:sp>
        <p:nvSpPr>
          <p:cNvPr id="12" name="Text 10"/>
          <p:cNvSpPr/>
          <p:nvPr/>
        </p:nvSpPr>
        <p:spPr>
          <a:xfrm>
            <a:off x="8001000" y="2359152"/>
            <a:ext cx="3639312" cy="960120"/>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buNone/>
            </a:pPr>
            <a:r>
              <a:rPr lang="en-US" sz="2000" dirty="0">
                <a:solidFill>
                  <a:srgbClr val="222222"/>
                </a:solidFill>
                <a:latin typeface="Yu Gothic" pitchFamily="34" charset="0"/>
                <a:ea typeface="Yu Gothic" pitchFamily="34" charset="-122"/>
                <a:cs typeface="Yu Gothic" pitchFamily="34" charset="-120"/>
              </a:rPr>
              <a:t>固定Promptで</a:t>
            </a:r>
            <a:endParaRPr lang="en-US" sz="2000" dirty="0"/>
          </a:p>
          <a:p>
            <a:pPr marL="0" indent="0">
              <a:buNone/>
            </a:pPr>
            <a:r>
              <a:rPr lang="en-US" sz="2000" dirty="0">
                <a:solidFill>
                  <a:srgbClr val="222222"/>
                </a:solidFill>
                <a:latin typeface="Yu Gothic" pitchFamily="34" charset="0"/>
                <a:ea typeface="Yu Gothic" pitchFamily="34" charset="-122"/>
                <a:cs typeface="Yu Gothic" pitchFamily="34" charset="-120"/>
              </a:rPr>
              <a:t>方向性・機能・確実性を分類。</a:t>
            </a:r>
            <a:endParaRPr lang="en-US" sz="2000" dirty="0"/>
          </a:p>
        </p:txBody>
      </p:sp>
      <p:sp>
        <p:nvSpPr>
          <p:cNvPr id="13" name="Text 11"/>
          <p:cNvSpPr/>
          <p:nvPr/>
        </p:nvSpPr>
        <p:spPr>
          <a:xfrm>
            <a:off x="777239" y="3730752"/>
            <a:ext cx="2563119" cy="594360"/>
          </a:xfrm>
          <a:prstGeom prst="rect">
            <a:avLst/>
          </a:prstGeom>
          <a:noFill/>
          <a:ln/>
        </p:spPr>
        <p:txBody>
          <a:bodyPr wrap="square" lIns="1016" tIns="1016" rIns="1016" bIns="1016" rtlCol="0" anchor="ctr">
            <a:normAutofit/>
          </a:bodyPr>
          <a:lstStyle/>
          <a:p>
            <a:pPr marL="0" indent="0" algn="l">
              <a:buNone/>
            </a:pPr>
            <a:r>
              <a:rPr lang="en-US" sz="2400" b="1" dirty="0">
                <a:solidFill>
                  <a:srgbClr val="1F4E79"/>
                </a:solidFill>
                <a:latin typeface="Yu Gothic" pitchFamily="34" charset="0"/>
                <a:ea typeface="Yu Gothic" pitchFamily="34" charset="-122"/>
                <a:cs typeface="Yu Gothic" pitchFamily="34" charset="-120"/>
              </a:rPr>
              <a:t>ラベルの付け方</a:t>
            </a:r>
            <a:endParaRPr lang="en-US" sz="2400" dirty="0"/>
          </a:p>
        </p:txBody>
      </p:sp>
      <p:sp>
        <p:nvSpPr>
          <p:cNvPr id="14" name="Text 12"/>
          <p:cNvSpPr/>
          <p:nvPr/>
        </p:nvSpPr>
        <p:spPr>
          <a:xfrm>
            <a:off x="777240" y="4434840"/>
            <a:ext cx="5120640" cy="594360"/>
          </a:xfrm>
          <a:prstGeom prst="rect">
            <a:avLst/>
          </a:prstGeom>
          <a:solidFill>
            <a:srgbClr val="FFF7EF"/>
          </a:solidFill>
          <a:ln w="12700">
            <a:solidFill>
              <a:srgbClr val="EBC9A8"/>
            </a:solidFill>
          </a:ln>
        </p:spPr>
        <p:txBody>
          <a:bodyPr wrap="square" lIns="1016" tIns="1016" rIns="1016" bIns="1016" rtlCol="0" anchor="ctr">
            <a:normAutofit/>
          </a:bodyPr>
          <a:lstStyle/>
          <a:p>
            <a:pPr marL="0" indent="0" algn="l">
              <a:buNone/>
            </a:pPr>
            <a:r>
              <a:rPr lang="en-US" sz="1450" dirty="0">
                <a:solidFill>
                  <a:srgbClr val="222222"/>
                </a:solidFill>
                <a:latin typeface="Yu Gothic" pitchFamily="34" charset="0"/>
                <a:ea typeface="Yu Gothic" pitchFamily="34" charset="-122"/>
                <a:cs typeface="Yu Gothic" pitchFamily="34" charset="-120"/>
              </a:rPr>
              <a:t>Embedding：クラスタ名は自動生成ではない。代表chunkを読んで手動命名した。</a:t>
            </a:r>
            <a:endParaRPr lang="en-US" sz="1450" dirty="0"/>
          </a:p>
        </p:txBody>
      </p:sp>
      <p:sp>
        <p:nvSpPr>
          <p:cNvPr id="15" name="Text 13"/>
          <p:cNvSpPr/>
          <p:nvPr/>
        </p:nvSpPr>
        <p:spPr>
          <a:xfrm>
            <a:off x="6263640" y="4434840"/>
            <a:ext cx="5120640" cy="594360"/>
          </a:xfrm>
          <a:prstGeom prst="rect">
            <a:avLst/>
          </a:prstGeom>
          <a:solidFill>
            <a:srgbClr val="FFF7EF"/>
          </a:solidFill>
          <a:ln w="12700">
            <a:solidFill>
              <a:srgbClr val="EBC9A8"/>
            </a:solidFill>
          </a:ln>
        </p:spPr>
        <p:txBody>
          <a:bodyPr wrap="square" lIns="1016" tIns="1016" rIns="1016" bIns="1016" rtlCol="0" anchor="ctr">
            <a:normAutofit/>
          </a:bodyPr>
          <a:lstStyle/>
          <a:p>
            <a:pPr marL="0" indent="0" algn="l">
              <a:buNone/>
            </a:pPr>
            <a:r>
              <a:rPr lang="en-US" sz="1450" dirty="0">
                <a:solidFill>
                  <a:srgbClr val="222222"/>
                </a:solidFill>
                <a:latin typeface="Yu Gothic" pitchFamily="34" charset="0"/>
                <a:ea typeface="Yu Gothic" pitchFamily="34" charset="-122"/>
                <a:cs typeface="Yu Gothic" pitchFamily="34" charset="-120"/>
              </a:rPr>
              <a:t>生成AI：ラベル候補を事前に固定し、AIに選ばせた。話し手の意図や市場効果は推測させない。</a:t>
            </a:r>
            <a:endParaRPr lang="en-US" sz="1450" dirty="0"/>
          </a:p>
        </p:txBody>
      </p:sp>
      <p:sp>
        <p:nvSpPr>
          <p:cNvPr id="16" name="Text 14"/>
          <p:cNvSpPr/>
          <p:nvPr/>
        </p:nvSpPr>
        <p:spPr>
          <a:xfrm>
            <a:off x="1097280" y="5532120"/>
            <a:ext cx="9966960" cy="502920"/>
          </a:xfrm>
          <a:prstGeom prst="rect">
            <a:avLst/>
          </a:prstGeom>
          <a:solidFill>
            <a:srgbClr val="F6F6F6"/>
          </a:solidFill>
          <a:ln w="12700">
            <a:solidFill>
              <a:srgbClr val="D7D7D7"/>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設計上の狙い：同じテキストに対して、手法が何を見て、何を見落とすかを比較する。</a:t>
            </a:r>
            <a:endParaRPr lang="en-US" sz="1600" dirty="0"/>
          </a:p>
        </p:txBody>
      </p:sp>
      <p:sp>
        <p:nvSpPr>
          <p:cNvPr id="17" name="Text 15"/>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4/9</a:t>
            </a:r>
            <a:endParaRPr lang="en-US" sz="800" dirty="0"/>
          </a:p>
        </p:txBody>
      </p:sp>
      <p:sp>
        <p:nvSpPr>
          <p:cNvPr id="19" name="文本框 18">
            <a:extLst>
              <a:ext uri="{FF2B5EF4-FFF2-40B4-BE49-F238E27FC236}">
                <a16:creationId xmlns:a16="http://schemas.microsoft.com/office/drawing/2014/main" id="{148935C8-509E-76C6-40F2-34F76D0B3CEA}"/>
              </a:ext>
            </a:extLst>
          </p:cNvPr>
          <p:cNvSpPr txBox="1"/>
          <p:nvPr/>
        </p:nvSpPr>
        <p:spPr>
          <a:xfrm>
            <a:off x="-15240" y="6352847"/>
            <a:ext cx="6096000" cy="461665"/>
          </a:xfrm>
          <a:prstGeom prst="rect">
            <a:avLst/>
          </a:prstGeom>
          <a:noFill/>
        </p:spPr>
        <p:txBody>
          <a:bodyPr wrap="square">
            <a:spAutoFit/>
          </a:bodyPr>
          <a:lstStyle/>
          <a:p>
            <a:r>
              <a:rPr lang="en-US" altLang="zh-CN" sz="1200" dirty="0"/>
              <a:t>u299034j</a:t>
            </a:r>
          </a:p>
          <a:p>
            <a:r>
              <a:rPr lang="en-US" altLang="zh-CN" sz="1200" dirty="0"/>
              <a:t>CHEN WENTAO</a:t>
            </a:r>
            <a:endParaRPr lang="zh-CN" alt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1155680" cy="502920"/>
          </a:xfrm>
          <a:prstGeom prst="rect">
            <a:avLst/>
          </a:prstGeom>
          <a:noFill/>
        </p:spPr>
        <p:txBody>
          <a:bodyPr wrap="none" lIns="73152" tIns="18288" rIns="73152" bIns="18288">
            <a:spAutoFit/>
          </a:bodyPr>
          <a:lstStyle/>
          <a:p>
            <a:pPr algn="l"/>
            <a:r>
              <a:rPr sz="3000" b="1">
                <a:solidFill>
                  <a:srgbClr val="1C2630"/>
                </a:solidFill>
                <a:latin typeface="Yu Gothic"/>
              </a:rPr>
              <a:t>Embedding と K-means の原理</a:t>
            </a:r>
          </a:p>
        </p:txBody>
      </p:sp>
      <p:sp>
        <p:nvSpPr>
          <p:cNvPr id="3" name="TextBox 2"/>
          <p:cNvSpPr txBox="1"/>
          <p:nvPr/>
        </p:nvSpPr>
        <p:spPr>
          <a:xfrm>
            <a:off x="530352" y="868680"/>
            <a:ext cx="10972800" cy="274320"/>
          </a:xfrm>
          <a:prstGeom prst="rect">
            <a:avLst/>
          </a:prstGeom>
          <a:noFill/>
        </p:spPr>
        <p:txBody>
          <a:bodyPr wrap="none" lIns="73152" tIns="18288" rIns="73152" bIns="18288">
            <a:spAutoFit/>
          </a:bodyPr>
          <a:lstStyle/>
          <a:p>
            <a:pPr algn="l"/>
            <a:r>
              <a:rPr sz="1400" b="0">
                <a:solidFill>
                  <a:srgbClr val="5D6770"/>
                </a:solidFill>
                <a:latin typeface="Yu Gothic"/>
              </a:rPr>
              <a:t>chunk全体の意味を数値化し、意味の近いchunkを同じ群に集める</a:t>
            </a:r>
          </a:p>
        </p:txBody>
      </p:sp>
      <p:sp>
        <p:nvSpPr>
          <p:cNvPr id="4" name="Rectangle 3"/>
          <p:cNvSpPr/>
          <p:nvPr/>
        </p:nvSpPr>
        <p:spPr>
          <a:xfrm>
            <a:off x="502920" y="1143000"/>
            <a:ext cx="11155680" cy="18288"/>
          </a:xfrm>
          <a:prstGeom prst="rect">
            <a:avLst/>
          </a:prstGeom>
          <a:solidFill>
            <a:srgbClr val="2A6BB8"/>
          </a:solidFill>
          <a:ln>
            <a:solidFill>
              <a:srgbClr val="2A6B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417320"/>
            <a:ext cx="5394960" cy="196596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417320"/>
            <a:ext cx="82296" cy="1965960"/>
          </a:xfrm>
          <a:prstGeom prst="rect">
            <a:avLst/>
          </a:prstGeom>
          <a:solidFill>
            <a:srgbClr val="2A6BB8"/>
          </a:solidFill>
          <a:ln>
            <a:solidFill>
              <a:srgbClr val="2A6B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1554480"/>
            <a:ext cx="5120640" cy="329184"/>
          </a:xfrm>
          <a:prstGeom prst="rect">
            <a:avLst/>
          </a:prstGeom>
          <a:noFill/>
        </p:spPr>
        <p:txBody>
          <a:bodyPr wrap="none" lIns="73152" tIns="18288" rIns="73152" bIns="18288">
            <a:spAutoFit/>
          </a:bodyPr>
          <a:lstStyle/>
          <a:p>
            <a:pPr algn="l"/>
            <a:r>
              <a:rPr sz="1800" b="1">
                <a:solidFill>
                  <a:srgbClr val="1C2630"/>
                </a:solidFill>
                <a:latin typeface="Yu Gothic"/>
              </a:rPr>
              <a:t>1. Embedding：文章を数値ベクトルへ</a:t>
            </a:r>
          </a:p>
        </p:txBody>
      </p:sp>
      <p:sp>
        <p:nvSpPr>
          <p:cNvPr id="8" name="TextBox 7"/>
          <p:cNvSpPr txBox="1"/>
          <p:nvPr/>
        </p:nvSpPr>
        <p:spPr>
          <a:xfrm>
            <a:off x="822960" y="1947672"/>
            <a:ext cx="3161378" cy="252377"/>
          </a:xfrm>
          <a:prstGeom prst="rect">
            <a:avLst/>
          </a:prstGeom>
          <a:noFill/>
        </p:spPr>
        <p:txBody>
          <a:bodyPr wrap="none" lIns="73152" tIns="18288" rIns="73152" bIns="18288">
            <a:spAutoFit/>
          </a:bodyPr>
          <a:lstStyle/>
          <a:p>
            <a:pPr algn="l"/>
            <a:r>
              <a:rPr sz="1400" b="0" dirty="0" err="1">
                <a:solidFill>
                  <a:srgbClr val="2D343B"/>
                </a:solidFill>
                <a:latin typeface="Yu Gothic"/>
              </a:rPr>
              <a:t>各chunkの本文をモデルに入力する</a:t>
            </a:r>
            <a:r>
              <a:rPr sz="1400" b="0" dirty="0">
                <a:solidFill>
                  <a:srgbClr val="2D343B"/>
                </a:solidFill>
                <a:latin typeface="Yu Gothic"/>
              </a:rPr>
              <a:t>。</a:t>
            </a:r>
          </a:p>
        </p:txBody>
      </p:sp>
      <p:sp>
        <p:nvSpPr>
          <p:cNvPr id="9" name="TextBox 8"/>
          <p:cNvSpPr txBox="1"/>
          <p:nvPr/>
        </p:nvSpPr>
        <p:spPr>
          <a:xfrm>
            <a:off x="822960" y="2249424"/>
            <a:ext cx="4097532" cy="252377"/>
          </a:xfrm>
          <a:prstGeom prst="rect">
            <a:avLst/>
          </a:prstGeom>
          <a:noFill/>
        </p:spPr>
        <p:txBody>
          <a:bodyPr wrap="none" lIns="73152" tIns="18288" rIns="73152" bIns="18288">
            <a:spAutoFit/>
          </a:bodyPr>
          <a:lstStyle/>
          <a:p>
            <a:pPr algn="l"/>
            <a:r>
              <a:rPr sz="1400" b="0" dirty="0" err="1">
                <a:solidFill>
                  <a:srgbClr val="2D343B"/>
                </a:solidFill>
                <a:latin typeface="Yu Gothic"/>
              </a:rPr>
              <a:t>出力は「意味」を表す数百次元の数値ベクトル</a:t>
            </a:r>
            <a:r>
              <a:rPr sz="1400" b="0" dirty="0">
                <a:solidFill>
                  <a:srgbClr val="2D343B"/>
                </a:solidFill>
                <a:latin typeface="Yu Gothic"/>
              </a:rPr>
              <a:t>。</a:t>
            </a:r>
          </a:p>
        </p:txBody>
      </p:sp>
      <p:sp>
        <p:nvSpPr>
          <p:cNvPr id="10" name="TextBox 9"/>
          <p:cNvSpPr txBox="1"/>
          <p:nvPr/>
        </p:nvSpPr>
        <p:spPr>
          <a:xfrm>
            <a:off x="822960" y="2551176"/>
            <a:ext cx="4995214" cy="252377"/>
          </a:xfrm>
          <a:prstGeom prst="rect">
            <a:avLst/>
          </a:prstGeom>
          <a:noFill/>
        </p:spPr>
        <p:txBody>
          <a:bodyPr wrap="none" lIns="73152" tIns="18288" rIns="73152" bIns="18288">
            <a:spAutoFit/>
          </a:bodyPr>
          <a:lstStyle/>
          <a:p>
            <a:pPr algn="l"/>
            <a:r>
              <a:rPr sz="1400" b="0" dirty="0" err="1">
                <a:solidFill>
                  <a:srgbClr val="2D343B"/>
                </a:solidFill>
                <a:latin typeface="Yu Gothic"/>
              </a:rPr>
              <a:t>本分析では文ベクトルを正規化して距離比較しやすくした</a:t>
            </a:r>
            <a:r>
              <a:rPr sz="1400" b="0" dirty="0">
                <a:solidFill>
                  <a:srgbClr val="2D343B"/>
                </a:solidFill>
                <a:latin typeface="Yu Gothic"/>
              </a:rPr>
              <a:t>。</a:t>
            </a:r>
          </a:p>
        </p:txBody>
      </p:sp>
      <p:sp>
        <p:nvSpPr>
          <p:cNvPr id="11" name="Rounded Rectangle 10"/>
          <p:cNvSpPr/>
          <p:nvPr/>
        </p:nvSpPr>
        <p:spPr>
          <a:xfrm>
            <a:off x="914400" y="3611880"/>
            <a:ext cx="1325880" cy="50292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721608"/>
            <a:ext cx="1234439" cy="411480"/>
          </a:xfrm>
          <a:prstGeom prst="rect">
            <a:avLst/>
          </a:prstGeom>
          <a:noFill/>
        </p:spPr>
        <p:txBody>
          <a:bodyPr wrap="none" lIns="73152" tIns="18288" rIns="73152" bIns="18288">
            <a:spAutoFit/>
          </a:bodyPr>
          <a:lstStyle/>
          <a:p>
            <a:pPr algn="ctr"/>
            <a:r>
              <a:rPr sz="1500" b="1" dirty="0">
                <a:solidFill>
                  <a:srgbClr val="1C2630"/>
                </a:solidFill>
                <a:latin typeface="Yu Gothic"/>
              </a:rPr>
              <a:t>chunkᵢ</a:t>
            </a:r>
          </a:p>
        </p:txBody>
      </p:sp>
      <p:cxnSp>
        <p:nvCxnSpPr>
          <p:cNvPr id="13" name="Connector 12"/>
          <p:cNvCxnSpPr/>
          <p:nvPr/>
        </p:nvCxnSpPr>
        <p:spPr>
          <a:xfrm>
            <a:off x="2240280" y="3858768"/>
            <a:ext cx="640080" cy="0"/>
          </a:xfrm>
          <a:prstGeom prst="line">
            <a:avLst/>
          </a:prstGeom>
          <a:ln w="17780">
            <a:solidFill>
              <a:srgbClr val="2A6BB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07792" y="3611880"/>
            <a:ext cx="2514600" cy="502920"/>
          </a:xfrm>
          <a:prstGeom prst="roundRect">
            <a:avLst/>
          </a:prstGeom>
          <a:solidFill>
            <a:srgbClr val="E8F1FC"/>
          </a:solidFill>
          <a:ln w="13970">
            <a:solidFill>
              <a:srgbClr val="2A6B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53512" y="3721608"/>
            <a:ext cx="2423160" cy="411480"/>
          </a:xfrm>
          <a:prstGeom prst="rect">
            <a:avLst/>
          </a:prstGeom>
          <a:noFill/>
        </p:spPr>
        <p:txBody>
          <a:bodyPr wrap="none" lIns="73152" tIns="18288" rIns="73152" bIns="18288">
            <a:spAutoFit/>
          </a:bodyPr>
          <a:lstStyle/>
          <a:p>
            <a:pPr algn="ctr"/>
            <a:r>
              <a:rPr sz="1500" b="1">
                <a:solidFill>
                  <a:srgbClr val="1C2630"/>
                </a:solidFill>
                <a:latin typeface="Yu Gothic"/>
              </a:rPr>
              <a:t>xᵢ = f(textᵢ)</a:t>
            </a:r>
          </a:p>
        </p:txBody>
      </p:sp>
      <p:sp>
        <p:nvSpPr>
          <p:cNvPr id="16" name="TextBox 15"/>
          <p:cNvSpPr txBox="1"/>
          <p:nvPr/>
        </p:nvSpPr>
        <p:spPr>
          <a:xfrm>
            <a:off x="777240" y="4270248"/>
            <a:ext cx="5074920" cy="438912"/>
          </a:xfrm>
          <a:prstGeom prst="rect">
            <a:avLst/>
          </a:prstGeom>
          <a:noFill/>
        </p:spPr>
        <p:txBody>
          <a:bodyPr wrap="none" lIns="73152" tIns="18288" rIns="73152" bIns="18288">
            <a:spAutoFit/>
          </a:bodyPr>
          <a:lstStyle/>
          <a:p>
            <a:pPr algn="l"/>
            <a:r>
              <a:rPr sz="1300" b="0" dirty="0" err="1">
                <a:solidFill>
                  <a:srgbClr val="2D343B"/>
                </a:solidFill>
                <a:latin typeface="Yu Gothic"/>
              </a:rPr>
              <a:t>意味が近いchunkほど、ベクトル空間上でも近くなる</a:t>
            </a:r>
            <a:r>
              <a:rPr sz="1300" b="0" dirty="0">
                <a:solidFill>
                  <a:srgbClr val="2D343B"/>
                </a:solidFill>
                <a:latin typeface="Yu Gothic"/>
              </a:rPr>
              <a:t>。</a:t>
            </a:r>
          </a:p>
        </p:txBody>
      </p:sp>
      <p:sp>
        <p:nvSpPr>
          <p:cNvPr id="17" name="Rounded Rectangle 16"/>
          <p:cNvSpPr/>
          <p:nvPr/>
        </p:nvSpPr>
        <p:spPr>
          <a:xfrm>
            <a:off x="6217920" y="1417320"/>
            <a:ext cx="5394960" cy="196596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1417320"/>
            <a:ext cx="82296" cy="1965960"/>
          </a:xfrm>
          <a:prstGeom prst="rect">
            <a:avLst/>
          </a:prstGeom>
          <a:solidFill>
            <a:srgbClr val="40916C"/>
          </a:solidFill>
          <a:ln>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82512" y="1554480"/>
            <a:ext cx="5120640" cy="329184"/>
          </a:xfrm>
          <a:prstGeom prst="rect">
            <a:avLst/>
          </a:prstGeom>
          <a:noFill/>
        </p:spPr>
        <p:txBody>
          <a:bodyPr wrap="none" lIns="73152" tIns="18288" rIns="73152" bIns="18288">
            <a:spAutoFit/>
          </a:bodyPr>
          <a:lstStyle/>
          <a:p>
            <a:pPr algn="l"/>
            <a:r>
              <a:rPr sz="1800" b="1" dirty="0">
                <a:solidFill>
                  <a:srgbClr val="1C2630"/>
                </a:solidFill>
                <a:latin typeface="Yu Gothic"/>
              </a:rPr>
              <a:t>2. K-means：近いベクトルを5群へ</a:t>
            </a:r>
          </a:p>
        </p:txBody>
      </p:sp>
      <p:sp>
        <p:nvSpPr>
          <p:cNvPr id="20" name="TextBox 19"/>
          <p:cNvSpPr txBox="1"/>
          <p:nvPr/>
        </p:nvSpPr>
        <p:spPr>
          <a:xfrm>
            <a:off x="6446520" y="1947672"/>
            <a:ext cx="2924134" cy="252377"/>
          </a:xfrm>
          <a:prstGeom prst="rect">
            <a:avLst/>
          </a:prstGeom>
          <a:noFill/>
        </p:spPr>
        <p:txBody>
          <a:bodyPr wrap="none" lIns="73152" tIns="18288" rIns="73152" bIns="18288">
            <a:spAutoFit/>
          </a:bodyPr>
          <a:lstStyle/>
          <a:p>
            <a:pPr algn="l"/>
            <a:r>
              <a:rPr sz="1400" b="0" dirty="0" err="1">
                <a:solidFill>
                  <a:srgbClr val="2D343B"/>
                </a:solidFill>
                <a:latin typeface="Yu Gothic"/>
              </a:rPr>
              <a:t>K個の中心点（centroid）を置く</a:t>
            </a:r>
            <a:r>
              <a:rPr sz="1400" b="0" dirty="0">
                <a:solidFill>
                  <a:srgbClr val="2D343B"/>
                </a:solidFill>
                <a:latin typeface="Yu Gothic"/>
              </a:rPr>
              <a:t>。</a:t>
            </a:r>
          </a:p>
        </p:txBody>
      </p:sp>
      <p:sp>
        <p:nvSpPr>
          <p:cNvPr id="21" name="TextBox 20"/>
          <p:cNvSpPr txBox="1"/>
          <p:nvPr/>
        </p:nvSpPr>
        <p:spPr>
          <a:xfrm>
            <a:off x="6446520" y="2249424"/>
            <a:ext cx="4636141" cy="252377"/>
          </a:xfrm>
          <a:prstGeom prst="rect">
            <a:avLst/>
          </a:prstGeom>
          <a:noFill/>
        </p:spPr>
        <p:txBody>
          <a:bodyPr wrap="none" lIns="73152" tIns="18288" rIns="73152" bIns="18288">
            <a:spAutoFit/>
          </a:bodyPr>
          <a:lstStyle/>
          <a:p>
            <a:pPr algn="l"/>
            <a:r>
              <a:rPr sz="1400" b="0" dirty="0" err="1">
                <a:solidFill>
                  <a:srgbClr val="2D343B"/>
                </a:solidFill>
                <a:latin typeface="Yu Gothic"/>
              </a:rPr>
              <a:t>各ベクトルを最も近い中心点のクラスタへ割り当てる</a:t>
            </a:r>
            <a:r>
              <a:rPr sz="1400" b="0" dirty="0">
                <a:solidFill>
                  <a:srgbClr val="2D343B"/>
                </a:solidFill>
                <a:latin typeface="Yu Gothic"/>
              </a:rPr>
              <a:t>。</a:t>
            </a:r>
          </a:p>
        </p:txBody>
      </p:sp>
      <p:sp>
        <p:nvSpPr>
          <p:cNvPr id="22" name="TextBox 21"/>
          <p:cNvSpPr txBox="1"/>
          <p:nvPr/>
        </p:nvSpPr>
        <p:spPr>
          <a:xfrm>
            <a:off x="6446520" y="2551176"/>
            <a:ext cx="3379387" cy="252377"/>
          </a:xfrm>
          <a:prstGeom prst="rect">
            <a:avLst/>
          </a:prstGeom>
          <a:noFill/>
        </p:spPr>
        <p:txBody>
          <a:bodyPr wrap="none" lIns="73152" tIns="18288" rIns="73152" bIns="18288">
            <a:spAutoFit/>
          </a:bodyPr>
          <a:lstStyle/>
          <a:p>
            <a:pPr algn="l"/>
            <a:r>
              <a:rPr sz="1400" b="0" dirty="0" err="1">
                <a:solidFill>
                  <a:srgbClr val="2D343B"/>
                </a:solidFill>
                <a:latin typeface="Yu Gothic"/>
              </a:rPr>
              <a:t>中心点を更新し、割り当てを反復する</a:t>
            </a:r>
            <a:r>
              <a:rPr sz="1400" b="0" dirty="0">
                <a:solidFill>
                  <a:srgbClr val="2D343B"/>
                </a:solidFill>
                <a:latin typeface="Yu Gothic"/>
              </a:rPr>
              <a:t>。</a:t>
            </a:r>
          </a:p>
        </p:txBody>
      </p:sp>
      <p:sp>
        <p:nvSpPr>
          <p:cNvPr id="23" name="Rounded Rectangle 22"/>
          <p:cNvSpPr/>
          <p:nvPr/>
        </p:nvSpPr>
        <p:spPr>
          <a:xfrm>
            <a:off x="6537960" y="3611880"/>
            <a:ext cx="1828800" cy="50292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0" y="3721608"/>
            <a:ext cx="1737360" cy="411480"/>
          </a:xfrm>
          <a:prstGeom prst="rect">
            <a:avLst/>
          </a:prstGeom>
          <a:noFill/>
        </p:spPr>
        <p:txBody>
          <a:bodyPr wrap="none" lIns="73152" tIns="18288" rIns="73152" bIns="18288">
            <a:spAutoFit/>
          </a:bodyPr>
          <a:lstStyle/>
          <a:p>
            <a:pPr algn="ctr"/>
            <a:r>
              <a:rPr sz="1500" b="1" dirty="0" err="1">
                <a:solidFill>
                  <a:srgbClr val="1C2630"/>
                </a:solidFill>
                <a:latin typeface="Yu Gothic"/>
              </a:rPr>
              <a:t>ベクトル群</a:t>
            </a:r>
            <a:endParaRPr sz="1500" b="1" dirty="0">
              <a:solidFill>
                <a:srgbClr val="1C2630"/>
              </a:solidFill>
              <a:latin typeface="Yu Gothic"/>
            </a:endParaRPr>
          </a:p>
        </p:txBody>
      </p:sp>
      <p:cxnSp>
        <p:nvCxnSpPr>
          <p:cNvPr id="25" name="Connector 24"/>
          <p:cNvCxnSpPr/>
          <p:nvPr/>
        </p:nvCxnSpPr>
        <p:spPr>
          <a:xfrm>
            <a:off x="8366760" y="3858768"/>
            <a:ext cx="640080" cy="0"/>
          </a:xfrm>
          <a:prstGeom prst="line">
            <a:avLst/>
          </a:prstGeom>
          <a:ln w="17780">
            <a:solidFill>
              <a:srgbClr val="40916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52560" y="3611880"/>
            <a:ext cx="2057400" cy="502920"/>
          </a:xfrm>
          <a:prstGeom prst="roundRect">
            <a:avLst/>
          </a:prstGeom>
          <a:solidFill>
            <a:srgbClr val="EAF8EF"/>
          </a:solidFill>
          <a:ln w="1397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98280" y="3721608"/>
            <a:ext cx="1965960" cy="411480"/>
          </a:xfrm>
          <a:prstGeom prst="rect">
            <a:avLst/>
          </a:prstGeom>
          <a:noFill/>
        </p:spPr>
        <p:txBody>
          <a:bodyPr wrap="none" lIns="73152" tIns="18288" rIns="73152" bIns="18288">
            <a:spAutoFit/>
          </a:bodyPr>
          <a:lstStyle/>
          <a:p>
            <a:pPr algn="ctr"/>
            <a:r>
              <a:rPr sz="1500" b="1">
                <a:solidFill>
                  <a:srgbClr val="1C2630"/>
                </a:solidFill>
                <a:latin typeface="Yu Gothic"/>
              </a:rPr>
              <a:t>5 clusters</a:t>
            </a:r>
          </a:p>
        </p:txBody>
      </p:sp>
      <p:sp>
        <p:nvSpPr>
          <p:cNvPr id="28" name="TextBox 27"/>
          <p:cNvSpPr txBox="1"/>
          <p:nvPr/>
        </p:nvSpPr>
        <p:spPr>
          <a:xfrm>
            <a:off x="6355080" y="4270248"/>
            <a:ext cx="5074920" cy="438912"/>
          </a:xfrm>
          <a:prstGeom prst="rect">
            <a:avLst/>
          </a:prstGeom>
          <a:noFill/>
        </p:spPr>
        <p:txBody>
          <a:bodyPr wrap="none" lIns="73152" tIns="18288" rIns="73152" bIns="18288">
            <a:spAutoFit/>
          </a:bodyPr>
          <a:lstStyle/>
          <a:p>
            <a:pPr algn="l"/>
            <a:r>
              <a:rPr sz="1300" b="0" dirty="0">
                <a:solidFill>
                  <a:srgbClr val="2D343B"/>
                </a:solidFill>
                <a:latin typeface="Yu Gothic"/>
              </a:rPr>
              <a:t>k=3,4,5を試し、解釈しやすいk=5を主結果にした。</a:t>
            </a:r>
          </a:p>
        </p:txBody>
      </p:sp>
      <p:sp>
        <p:nvSpPr>
          <p:cNvPr id="29" name="Rounded Rectangle 28"/>
          <p:cNvSpPr/>
          <p:nvPr/>
        </p:nvSpPr>
        <p:spPr>
          <a:xfrm>
            <a:off x="594360" y="4892040"/>
            <a:ext cx="11018520" cy="1143000"/>
          </a:xfrm>
          <a:prstGeom prst="roundRect">
            <a:avLst/>
          </a:prstGeom>
          <a:solidFill>
            <a:srgbClr val="F9FAFC"/>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5074920"/>
            <a:ext cx="10515600" cy="256032"/>
          </a:xfrm>
          <a:prstGeom prst="rect">
            <a:avLst/>
          </a:prstGeom>
          <a:noFill/>
        </p:spPr>
        <p:txBody>
          <a:bodyPr wrap="none" lIns="73152" tIns="18288" rIns="73152" bIns="18288">
            <a:spAutoFit/>
          </a:bodyPr>
          <a:lstStyle/>
          <a:p>
            <a:pPr algn="l"/>
            <a:r>
              <a:rPr sz="1700" b="1" dirty="0" err="1">
                <a:solidFill>
                  <a:srgbClr val="1C2630"/>
                </a:solidFill>
                <a:latin typeface="Yu Gothic"/>
              </a:rPr>
              <a:t>クラスタ名は自動生成ではない</a:t>
            </a:r>
            <a:endParaRPr sz="1700" b="1" dirty="0">
              <a:solidFill>
                <a:srgbClr val="1C2630"/>
              </a:solidFill>
              <a:latin typeface="Yu Gothic"/>
            </a:endParaRPr>
          </a:p>
        </p:txBody>
      </p:sp>
      <p:sp>
        <p:nvSpPr>
          <p:cNvPr id="31" name="Rounded Rectangle 30"/>
          <p:cNvSpPr/>
          <p:nvPr/>
        </p:nvSpPr>
        <p:spPr>
          <a:xfrm>
            <a:off x="914400" y="5468112"/>
            <a:ext cx="2148840" cy="41148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0120" y="5577840"/>
            <a:ext cx="2057400" cy="320040"/>
          </a:xfrm>
          <a:prstGeom prst="rect">
            <a:avLst/>
          </a:prstGeom>
          <a:noFill/>
        </p:spPr>
        <p:txBody>
          <a:bodyPr wrap="none" lIns="73152" tIns="18288" rIns="73152" bIns="18288">
            <a:spAutoFit/>
          </a:bodyPr>
          <a:lstStyle/>
          <a:p>
            <a:pPr algn="ctr"/>
            <a:r>
              <a:rPr sz="1200" b="1">
                <a:solidFill>
                  <a:srgbClr val="1C2630"/>
                </a:solidFill>
                <a:latin typeface="Yu Gothic"/>
              </a:rPr>
              <a:t>代表chunkを読む</a:t>
            </a:r>
          </a:p>
        </p:txBody>
      </p:sp>
      <p:cxnSp>
        <p:nvCxnSpPr>
          <p:cNvPr id="33" name="Connector 32"/>
          <p:cNvCxnSpPr/>
          <p:nvPr/>
        </p:nvCxnSpPr>
        <p:spPr>
          <a:xfrm>
            <a:off x="3072384" y="5673852"/>
            <a:ext cx="548640" cy="0"/>
          </a:xfrm>
          <a:prstGeom prst="line">
            <a:avLst/>
          </a:prstGeom>
          <a:ln w="17780">
            <a:solidFill>
              <a:srgbClr val="2A6BB8"/>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657600" y="5468112"/>
            <a:ext cx="2148840" cy="41148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703320" y="5577840"/>
            <a:ext cx="2057400" cy="320040"/>
          </a:xfrm>
          <a:prstGeom prst="rect">
            <a:avLst/>
          </a:prstGeom>
          <a:noFill/>
        </p:spPr>
        <p:txBody>
          <a:bodyPr wrap="none" lIns="73152" tIns="18288" rIns="73152" bIns="18288">
            <a:spAutoFit/>
          </a:bodyPr>
          <a:lstStyle/>
          <a:p>
            <a:pPr algn="ctr"/>
            <a:r>
              <a:rPr sz="1200" b="1">
                <a:solidFill>
                  <a:srgbClr val="1C2630"/>
                </a:solidFill>
                <a:latin typeface="Yu Gothic"/>
              </a:rPr>
              <a:t>内容を解釈</a:t>
            </a:r>
          </a:p>
        </p:txBody>
      </p:sp>
      <p:cxnSp>
        <p:nvCxnSpPr>
          <p:cNvPr id="36" name="Connector 35"/>
          <p:cNvCxnSpPr/>
          <p:nvPr/>
        </p:nvCxnSpPr>
        <p:spPr>
          <a:xfrm>
            <a:off x="5815584" y="5673852"/>
            <a:ext cx="548640" cy="0"/>
          </a:xfrm>
          <a:prstGeom prst="line">
            <a:avLst/>
          </a:prstGeom>
          <a:ln w="17780">
            <a:solidFill>
              <a:srgbClr val="2A6BB8"/>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400800" y="5468112"/>
            <a:ext cx="2926080" cy="411480"/>
          </a:xfrm>
          <a:prstGeom prst="roundRect">
            <a:avLst/>
          </a:prstGeom>
          <a:solidFill>
            <a:srgbClr val="FFFFFF"/>
          </a:solidFill>
          <a:ln w="13970">
            <a:solidFill>
              <a:srgbClr val="B9C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46520" y="5577840"/>
            <a:ext cx="2834640" cy="320040"/>
          </a:xfrm>
          <a:prstGeom prst="rect">
            <a:avLst/>
          </a:prstGeom>
          <a:noFill/>
        </p:spPr>
        <p:txBody>
          <a:bodyPr wrap="none" lIns="73152" tIns="18288" rIns="73152" bIns="18288">
            <a:spAutoFit/>
          </a:bodyPr>
          <a:lstStyle/>
          <a:p>
            <a:pPr algn="ctr"/>
            <a:r>
              <a:rPr sz="1200" b="1">
                <a:solidFill>
                  <a:srgbClr val="1C2630"/>
                </a:solidFill>
                <a:latin typeface="Yu Gothic"/>
              </a:rPr>
              <a:t>人手でテーマ名を付ける</a:t>
            </a:r>
          </a:p>
        </p:txBody>
      </p:sp>
      <p:sp>
        <p:nvSpPr>
          <p:cNvPr id="39" name="TextBox 38"/>
          <p:cNvSpPr txBox="1"/>
          <p:nvPr/>
        </p:nvSpPr>
        <p:spPr>
          <a:xfrm>
            <a:off x="9464040" y="5413248"/>
            <a:ext cx="1920240" cy="548640"/>
          </a:xfrm>
          <a:prstGeom prst="rect">
            <a:avLst/>
          </a:prstGeom>
          <a:noFill/>
        </p:spPr>
        <p:txBody>
          <a:bodyPr wrap="none" lIns="73152" tIns="18288" rIns="73152" bIns="18288">
            <a:spAutoFit/>
          </a:bodyPr>
          <a:lstStyle/>
          <a:p>
            <a:pPr algn="l"/>
            <a:r>
              <a:rPr sz="1200" b="0">
                <a:solidFill>
                  <a:srgbClr val="5D6770"/>
                </a:solidFill>
                <a:latin typeface="Yu Gothic"/>
              </a:rPr>
              <a:t>例：賃金と物価の好循環</a:t>
            </a:r>
          </a:p>
        </p:txBody>
      </p:sp>
      <p:sp>
        <p:nvSpPr>
          <p:cNvPr id="40" name="TextBox 39"/>
          <p:cNvSpPr txBox="1"/>
          <p:nvPr/>
        </p:nvSpPr>
        <p:spPr>
          <a:xfrm>
            <a:off x="594360" y="6291072"/>
            <a:ext cx="9692640" cy="256032"/>
          </a:xfrm>
          <a:prstGeom prst="rect">
            <a:avLst/>
          </a:prstGeom>
          <a:noFill/>
        </p:spPr>
        <p:txBody>
          <a:bodyPr wrap="none" lIns="73152" tIns="18288" rIns="73152" bIns="18288">
            <a:spAutoFit/>
          </a:bodyPr>
          <a:lstStyle/>
          <a:p>
            <a:pPr algn="l"/>
            <a:r>
              <a:rPr sz="1050" b="0">
                <a:solidFill>
                  <a:srgbClr val="5D6770"/>
                </a:solidFill>
                <a:latin typeface="Yu Gothic"/>
              </a:rPr>
              <a:t>注：Embeddingは語の一致ではなく、chunk全体の意味的な近さを見る。PCA図は高次元ベクトルを2次元に投影した補助図である。</a:t>
            </a:r>
          </a:p>
        </p:txBody>
      </p:sp>
      <p:sp>
        <p:nvSpPr>
          <p:cNvPr id="41" name="TextBox 40"/>
          <p:cNvSpPr txBox="1"/>
          <p:nvPr/>
        </p:nvSpPr>
        <p:spPr>
          <a:xfrm>
            <a:off x="11064240" y="6492240"/>
            <a:ext cx="731520" cy="228600"/>
          </a:xfrm>
          <a:prstGeom prst="rect">
            <a:avLst/>
          </a:prstGeom>
          <a:noFill/>
        </p:spPr>
        <p:txBody>
          <a:bodyPr wrap="none" lIns="0" tIns="0" rIns="0" bIns="0">
            <a:spAutoFit/>
          </a:bodyPr>
          <a:lstStyle/>
          <a:p>
            <a:pPr algn="r"/>
            <a:r>
              <a:rPr sz="1000">
                <a:solidFill>
                  <a:srgbClr val="5D6770"/>
                </a:solidFill>
                <a:latin typeface="Yu Gothic"/>
              </a:rPr>
              <a:t>5/9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marL="0" indent="0">
              <a:buNone/>
            </a:pPr>
            <a:r>
              <a:rPr lang="en-US" sz="2400" b="1" dirty="0">
                <a:solidFill>
                  <a:srgbClr val="1F4E79"/>
                </a:solidFill>
                <a:latin typeface="Yu Gothic" pitchFamily="34" charset="0"/>
                <a:ea typeface="Yu Gothic" pitchFamily="34" charset="-122"/>
                <a:cs typeface="Yu Gothic" pitchFamily="34" charset="-120"/>
              </a:rPr>
              <a:t>結果1：TF-IDF</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marL="0" indent="0">
              <a:buNone/>
            </a:pPr>
            <a:r>
              <a:rPr lang="en-US" sz="1200" dirty="0">
                <a:solidFill>
                  <a:srgbClr val="666666"/>
                </a:solidFill>
                <a:latin typeface="Yu Gothic" pitchFamily="34" charset="0"/>
                <a:ea typeface="Yu Gothic" pitchFamily="34" charset="-122"/>
                <a:cs typeface="Yu Gothic" pitchFamily="34" charset="-120"/>
              </a:rPr>
              <a:t>語彙レベルでは、政策声明が政策手段を強く示す</a:t>
            </a:r>
            <a:endParaRPr lang="en-US" sz="1200" dirty="0"/>
          </a:p>
        </p:txBody>
      </p:sp>
      <p:pic>
        <p:nvPicPr>
          <p:cNvPr id="4" name="Image 0" descr="/mnt/data/tfidf_nouns_clean.png"/>
          <p:cNvPicPr>
            <a:picLocks noChangeAspect="1"/>
          </p:cNvPicPr>
          <p:nvPr/>
        </p:nvPicPr>
        <p:blipFill>
          <a:blip r:embed="rId3"/>
          <a:stretch>
            <a:fillRect/>
          </a:stretch>
        </p:blipFill>
        <p:spPr>
          <a:xfrm>
            <a:off x="502920" y="1126942"/>
            <a:ext cx="7269480" cy="4412092"/>
          </a:xfrm>
          <a:prstGeom prst="rect">
            <a:avLst/>
          </a:prstGeom>
        </p:spPr>
      </p:pic>
      <p:sp>
        <p:nvSpPr>
          <p:cNvPr id="5" name="Text 2"/>
          <p:cNvSpPr/>
          <p:nvPr/>
        </p:nvSpPr>
        <p:spPr>
          <a:xfrm>
            <a:off x="8092440" y="1143000"/>
            <a:ext cx="1097280" cy="329184"/>
          </a:xfrm>
          <a:prstGeom prst="rect">
            <a:avLst/>
          </a:prstGeom>
          <a:noFill/>
          <a:ln/>
        </p:spPr>
        <p:txBody>
          <a:bodyPr wrap="square" lIns="1016" tIns="1016" rIns="1016" bIns="1016" rtlCol="0" anchor="ctr">
            <a:normAutofit/>
          </a:bodyPr>
          <a:lstStyle/>
          <a:p>
            <a:pPr marL="0" indent="0" algn="l">
              <a:buNone/>
            </a:pPr>
            <a:r>
              <a:rPr lang="en-US" sz="1550" b="1" dirty="0">
                <a:solidFill>
                  <a:srgbClr val="1F4E79"/>
                </a:solidFill>
                <a:latin typeface="Yu Gothic" pitchFamily="34" charset="0"/>
                <a:ea typeface="Yu Gothic" pitchFamily="34" charset="-122"/>
                <a:cs typeface="Yu Gothic" pitchFamily="34" charset="-120"/>
              </a:rPr>
              <a:t>データ</a:t>
            </a:r>
            <a:endParaRPr lang="en-US" sz="1550" dirty="0"/>
          </a:p>
        </p:txBody>
      </p:sp>
      <p:sp>
        <p:nvSpPr>
          <p:cNvPr id="6" name="Text 3"/>
          <p:cNvSpPr/>
          <p:nvPr/>
        </p:nvSpPr>
        <p:spPr>
          <a:xfrm>
            <a:off x="8092440" y="1536192"/>
            <a:ext cx="3337560" cy="841248"/>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l">
              <a:buNone/>
            </a:pPr>
            <a:r>
              <a:rPr lang="en-US" sz="1380" dirty="0">
                <a:solidFill>
                  <a:srgbClr val="222222"/>
                </a:solidFill>
                <a:latin typeface="Yu Gothic" pitchFamily="34" charset="0"/>
                <a:ea typeface="Yu Gothic" pitchFamily="34" charset="-122"/>
                <a:cs typeface="Yu Gothic" pitchFamily="34" charset="-120"/>
              </a:rPr>
              <a:t>名詞に限定した補助TF-IDF。</a:t>
            </a:r>
            <a:endParaRPr lang="en-US" sz="1380" dirty="0"/>
          </a:p>
          <a:p>
            <a:pPr marL="0" indent="0" algn="l">
              <a:buNone/>
            </a:pPr>
            <a:r>
              <a:rPr lang="en-US" sz="1380" dirty="0">
                <a:solidFill>
                  <a:srgbClr val="222222"/>
                </a:solidFill>
                <a:latin typeface="Yu Gothic" pitchFamily="34" charset="0"/>
                <a:ea typeface="Yu Gothic" pitchFamily="34" charset="-122"/>
                <a:cs typeface="Yu Gothic" pitchFamily="34" charset="-120"/>
              </a:rPr>
              <a:t>正の値：政策声明に特徴的。</a:t>
            </a:r>
            <a:endParaRPr lang="en-US" sz="1380" dirty="0"/>
          </a:p>
          <a:p>
            <a:pPr marL="0" indent="0" algn="l">
              <a:buNone/>
            </a:pPr>
            <a:r>
              <a:rPr lang="en-US" sz="1380" dirty="0">
                <a:solidFill>
                  <a:srgbClr val="222222"/>
                </a:solidFill>
                <a:latin typeface="Yu Gothic" pitchFamily="34" charset="0"/>
                <a:ea typeface="Yu Gothic" pitchFamily="34" charset="-122"/>
                <a:cs typeface="Yu Gothic" pitchFamily="34" charset="-120"/>
              </a:rPr>
              <a:t>負の値：講演に特徴的。</a:t>
            </a:r>
            <a:endParaRPr lang="en-US" sz="1380" dirty="0"/>
          </a:p>
        </p:txBody>
      </p:sp>
      <p:sp>
        <p:nvSpPr>
          <p:cNvPr id="7" name="Text 4"/>
          <p:cNvSpPr/>
          <p:nvPr/>
        </p:nvSpPr>
        <p:spPr>
          <a:xfrm>
            <a:off x="8092440" y="2743200"/>
            <a:ext cx="1097280" cy="329184"/>
          </a:xfrm>
          <a:prstGeom prst="rect">
            <a:avLst/>
          </a:prstGeom>
          <a:noFill/>
          <a:ln/>
        </p:spPr>
        <p:txBody>
          <a:bodyPr wrap="square" lIns="1016" tIns="1016" rIns="1016" bIns="1016" rtlCol="0" anchor="ctr">
            <a:normAutofit/>
          </a:bodyPr>
          <a:lstStyle/>
          <a:p>
            <a:pPr marL="0" indent="0" algn="l">
              <a:buNone/>
            </a:pPr>
            <a:r>
              <a:rPr lang="en-US" sz="1550" b="1" dirty="0">
                <a:solidFill>
                  <a:srgbClr val="1F4E79"/>
                </a:solidFill>
                <a:latin typeface="Yu Gothic" pitchFamily="34" charset="0"/>
                <a:ea typeface="Yu Gothic" pitchFamily="34" charset="-122"/>
                <a:cs typeface="Yu Gothic" pitchFamily="34" charset="-120"/>
              </a:rPr>
              <a:t>根拠</a:t>
            </a:r>
            <a:endParaRPr lang="en-US" sz="1550" dirty="0"/>
          </a:p>
        </p:txBody>
      </p:sp>
      <p:sp>
        <p:nvSpPr>
          <p:cNvPr id="8" name="Text 5"/>
          <p:cNvSpPr/>
          <p:nvPr/>
        </p:nvSpPr>
        <p:spPr>
          <a:xfrm>
            <a:off x="8092440" y="3154680"/>
            <a:ext cx="3337560" cy="914400"/>
          </a:xfrm>
          <a:prstGeom prst="rect">
            <a:avLst/>
          </a:prstGeom>
          <a:noFill/>
          <a:ln/>
        </p:spPr>
        <p:txBody>
          <a:bodyPr wrap="square" lIns="254" tIns="254" rIns="254" bIns="254" rtlCol="0" anchor="ctr">
            <a:normAutofit/>
          </a:bodyPr>
          <a:lstStyle/>
          <a:p>
            <a:pPr marL="0" indent="0">
              <a:buNone/>
            </a:pPr>
            <a:r>
              <a:rPr lang="en-US" sz="1380" dirty="0">
                <a:solidFill>
                  <a:srgbClr val="222222"/>
                </a:solidFill>
                <a:latin typeface="Yu Gothic" pitchFamily="34" charset="0"/>
                <a:ea typeface="Yu Gothic" pitchFamily="34" charset="-122"/>
                <a:cs typeface="Yu Gothic" pitchFamily="34" charset="-120"/>
              </a:rPr>
              <a:t>• 声明側：決定、買い入れ、オペ、方針、国債</a:t>
            </a:r>
            <a:endParaRPr lang="en-US" sz="1380" dirty="0"/>
          </a:p>
          <a:p>
            <a:pPr marL="0" indent="0">
              <a:buNone/>
            </a:pPr>
            <a:r>
              <a:rPr lang="en-US" sz="1380" dirty="0">
                <a:solidFill>
                  <a:srgbClr val="222222"/>
                </a:solidFill>
                <a:latin typeface="Yu Gothic" pitchFamily="34" charset="0"/>
                <a:ea typeface="Yu Gothic" pitchFamily="34" charset="-122"/>
                <a:cs typeface="Yu Gothic" pitchFamily="34" charset="-120"/>
              </a:rPr>
              <a:t>• 講演側：物価、企業、賃金など経済説明の語</a:t>
            </a:r>
            <a:endParaRPr lang="en-US" sz="1380" dirty="0"/>
          </a:p>
        </p:txBody>
      </p:sp>
      <p:sp>
        <p:nvSpPr>
          <p:cNvPr id="9" name="Text 6"/>
          <p:cNvSpPr/>
          <p:nvPr/>
        </p:nvSpPr>
        <p:spPr>
          <a:xfrm>
            <a:off x="8092440" y="4175947"/>
            <a:ext cx="1097280" cy="329184"/>
          </a:xfrm>
          <a:prstGeom prst="rect">
            <a:avLst/>
          </a:prstGeom>
          <a:noFill/>
          <a:ln/>
        </p:spPr>
        <p:txBody>
          <a:bodyPr wrap="square" lIns="1016" tIns="1016" rIns="1016" bIns="1016" rtlCol="0" anchor="ctr">
            <a:normAutofit/>
          </a:bodyPr>
          <a:lstStyle/>
          <a:p>
            <a:pPr marL="0" indent="0" algn="l">
              <a:buNone/>
            </a:pPr>
            <a:r>
              <a:rPr lang="en-US" sz="1550" b="1" dirty="0">
                <a:solidFill>
                  <a:srgbClr val="1F4E79"/>
                </a:solidFill>
                <a:latin typeface="Yu Gothic" pitchFamily="34" charset="0"/>
                <a:ea typeface="Yu Gothic" pitchFamily="34" charset="-122"/>
                <a:cs typeface="Yu Gothic" pitchFamily="34" charset="-120"/>
              </a:rPr>
              <a:t>解釈</a:t>
            </a:r>
            <a:endParaRPr lang="en-US" sz="1550" dirty="0"/>
          </a:p>
        </p:txBody>
      </p:sp>
      <p:sp>
        <p:nvSpPr>
          <p:cNvPr id="10" name="Text 7"/>
          <p:cNvSpPr/>
          <p:nvPr/>
        </p:nvSpPr>
        <p:spPr>
          <a:xfrm>
            <a:off x="8092440" y="4512671"/>
            <a:ext cx="3337560" cy="2029968"/>
          </a:xfrm>
          <a:prstGeom prst="rect">
            <a:avLst/>
          </a:prstGeom>
          <a:solidFill>
            <a:srgbClr val="F3F8FC"/>
          </a:solidFill>
          <a:ln w="12700">
            <a:solidFill>
              <a:srgbClr val="B4CDE4"/>
            </a:solidFill>
          </a:ln>
        </p:spPr>
        <p:txBody>
          <a:bodyPr wrap="square" lIns="1016" tIns="1016" rIns="1016" bIns="1016" rtlCol="0" anchor="ctr">
            <a:normAutofit/>
          </a:bodyPr>
          <a:lstStyle/>
          <a:p>
            <a:r>
              <a:rPr lang="zh-CN" altLang="zh-CN" sz="1400" b="1" dirty="0"/>
              <a:t>政策声明では、政策手段・運営に関する語が相対的に強く、</a:t>
            </a:r>
            <a:endParaRPr lang="en-US" altLang="zh-CN" sz="1400" b="1" dirty="0"/>
          </a:p>
          <a:p>
            <a:r>
              <a:rPr lang="zh-CN" altLang="zh-CN" sz="1400" b="1" dirty="0"/>
              <a:t>講演では、物価・賃金・企業など政策判断の背景を説明する語が強い。</a:t>
            </a:r>
            <a:endParaRPr lang="en-US" altLang="zh-CN" sz="1400" b="1" dirty="0"/>
          </a:p>
          <a:p>
            <a:br>
              <a:rPr lang="zh-CN" altLang="zh-CN" sz="1400" dirty="0"/>
            </a:br>
            <a:r>
              <a:rPr lang="zh-CN" altLang="zh-CN" sz="1400" b="1" dirty="0"/>
              <a:t>声明が政策変更を示し、講演がその背景を説明するという役割の違いが示唆される。</a:t>
            </a:r>
            <a:endParaRPr lang="en-US" sz="1380" dirty="0"/>
          </a:p>
        </p:txBody>
      </p:sp>
      <p:sp>
        <p:nvSpPr>
          <p:cNvPr id="11" name="Text 8"/>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6/9</a:t>
            </a:r>
            <a:endParaRPr lang="en-US" sz="800" dirty="0"/>
          </a:p>
        </p:txBody>
      </p:sp>
      <p:sp>
        <p:nvSpPr>
          <p:cNvPr id="13" name="文本框 12">
            <a:extLst>
              <a:ext uri="{FF2B5EF4-FFF2-40B4-BE49-F238E27FC236}">
                <a16:creationId xmlns:a16="http://schemas.microsoft.com/office/drawing/2014/main" id="{4ECF4373-813A-E4CB-7DF5-D3B23E02D5CA}"/>
              </a:ext>
            </a:extLst>
          </p:cNvPr>
          <p:cNvSpPr txBox="1"/>
          <p:nvPr/>
        </p:nvSpPr>
        <p:spPr>
          <a:xfrm>
            <a:off x="-15240" y="6396335"/>
            <a:ext cx="6096000" cy="461665"/>
          </a:xfrm>
          <a:prstGeom prst="rect">
            <a:avLst/>
          </a:prstGeom>
          <a:noFill/>
        </p:spPr>
        <p:txBody>
          <a:bodyPr wrap="square">
            <a:spAutoFit/>
          </a:bodyPr>
          <a:lstStyle/>
          <a:p>
            <a:r>
              <a:rPr lang="en-US" altLang="zh-CN" sz="1200" dirty="0"/>
              <a:t>u299034j</a:t>
            </a:r>
          </a:p>
          <a:p>
            <a:r>
              <a:rPr lang="en-US" altLang="zh-CN" sz="1200" dirty="0"/>
              <a:t>CHEN WENTAO</a:t>
            </a:r>
            <a:endParaRPr lang="zh-CN" altLang="en-US" sz="1200" dirty="0"/>
          </a:p>
        </p:txBody>
      </p:sp>
      <p:sp>
        <p:nvSpPr>
          <p:cNvPr id="14" name="文本框 13">
            <a:extLst>
              <a:ext uri="{FF2B5EF4-FFF2-40B4-BE49-F238E27FC236}">
                <a16:creationId xmlns:a16="http://schemas.microsoft.com/office/drawing/2014/main" id="{D9944306-168B-C3A0-0D57-CA7C91F0DC33}"/>
              </a:ext>
            </a:extLst>
          </p:cNvPr>
          <p:cNvSpPr txBox="1"/>
          <p:nvPr/>
        </p:nvSpPr>
        <p:spPr>
          <a:xfrm>
            <a:off x="2593910" y="5616240"/>
            <a:ext cx="5075853" cy="923330"/>
          </a:xfrm>
          <a:prstGeom prst="rect">
            <a:avLst/>
          </a:prstGeom>
          <a:noFill/>
        </p:spPr>
        <p:txBody>
          <a:bodyPr wrap="square" rtlCol="0">
            <a:spAutoFit/>
          </a:bodyPr>
          <a:lstStyle/>
          <a:p>
            <a:r>
              <a:rPr lang="zh-CN" altLang="zh-CN" dirty="0"/>
              <a:t>ただし、TF-IDFだけでは、この変更が「正常化の開始」なのか、「追加引き締めを意味しない限定的な変更」なのかは判断できない。</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marL="0" indent="0">
              <a:buNone/>
            </a:pPr>
            <a:r>
              <a:rPr lang="en-US" sz="2400" b="1" dirty="0">
                <a:solidFill>
                  <a:srgbClr val="1F4E79"/>
                </a:solidFill>
                <a:latin typeface="Yu Gothic" pitchFamily="34" charset="0"/>
                <a:ea typeface="Yu Gothic" pitchFamily="34" charset="-122"/>
                <a:cs typeface="Yu Gothic" pitchFamily="34" charset="-120"/>
              </a:rPr>
              <a:t>結果2：Embedding</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marL="0" indent="0">
              <a:buNone/>
            </a:pPr>
            <a:r>
              <a:rPr lang="en-US" sz="1200" dirty="0">
                <a:solidFill>
                  <a:srgbClr val="666666"/>
                </a:solidFill>
                <a:latin typeface="Yu Gothic" pitchFamily="34" charset="0"/>
                <a:ea typeface="Yu Gothic" pitchFamily="34" charset="-122"/>
                <a:cs typeface="Yu Gothic" pitchFamily="34" charset="-120"/>
              </a:rPr>
              <a:t>意味レベルでは、声明と講演の役割分担が見える</a:t>
            </a:r>
            <a:endParaRPr lang="en-US" sz="1200" dirty="0"/>
          </a:p>
        </p:txBody>
      </p:sp>
      <p:pic>
        <p:nvPicPr>
          <p:cNvPr id="4" name="Image 0" descr="/mnt/data/embedding_cluster_distribution.png"/>
          <p:cNvPicPr>
            <a:picLocks noChangeAspect="1"/>
          </p:cNvPicPr>
          <p:nvPr/>
        </p:nvPicPr>
        <p:blipFill>
          <a:blip r:embed="rId3"/>
          <a:stretch>
            <a:fillRect/>
          </a:stretch>
        </p:blipFill>
        <p:spPr>
          <a:xfrm>
            <a:off x="502920" y="1376662"/>
            <a:ext cx="7223760" cy="3821213"/>
          </a:xfrm>
          <a:prstGeom prst="rect">
            <a:avLst/>
          </a:prstGeom>
        </p:spPr>
      </p:pic>
      <p:sp>
        <p:nvSpPr>
          <p:cNvPr id="5" name="Text 2"/>
          <p:cNvSpPr/>
          <p:nvPr/>
        </p:nvSpPr>
        <p:spPr>
          <a:xfrm>
            <a:off x="8001000" y="1143000"/>
            <a:ext cx="1097280" cy="329184"/>
          </a:xfrm>
          <a:prstGeom prst="rect">
            <a:avLst/>
          </a:prstGeom>
          <a:noFill/>
          <a:ln/>
        </p:spPr>
        <p:txBody>
          <a:bodyPr wrap="square" lIns="1016" tIns="1016" rIns="1016" bIns="1016" rtlCol="0" anchor="ctr">
            <a:normAutofit/>
          </a:bodyPr>
          <a:lstStyle/>
          <a:p>
            <a:pPr marL="0" indent="0" algn="l">
              <a:buNone/>
            </a:pPr>
            <a:r>
              <a:rPr lang="en-US" sz="1550" b="1" dirty="0">
                <a:solidFill>
                  <a:srgbClr val="1F4E79"/>
                </a:solidFill>
                <a:latin typeface="Yu Gothic" pitchFamily="34" charset="0"/>
                <a:ea typeface="Yu Gothic" pitchFamily="34" charset="-122"/>
                <a:cs typeface="Yu Gothic" pitchFamily="34" charset="-120"/>
              </a:rPr>
              <a:t>データ</a:t>
            </a:r>
            <a:endParaRPr lang="en-US" sz="1550" dirty="0"/>
          </a:p>
        </p:txBody>
      </p:sp>
      <p:sp>
        <p:nvSpPr>
          <p:cNvPr id="6" name="Text 3"/>
          <p:cNvSpPr/>
          <p:nvPr/>
        </p:nvSpPr>
        <p:spPr>
          <a:xfrm>
            <a:off x="8001000" y="1536192"/>
            <a:ext cx="3429000" cy="749808"/>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l">
              <a:buNone/>
            </a:pPr>
            <a:r>
              <a:rPr lang="en-US" sz="1380" dirty="0">
                <a:solidFill>
                  <a:srgbClr val="222222"/>
                </a:solidFill>
                <a:latin typeface="Yu Gothic" pitchFamily="34" charset="0"/>
                <a:ea typeface="Yu Gothic" pitchFamily="34" charset="-122"/>
                <a:cs typeface="Yu Gothic" pitchFamily="34" charset="-120"/>
              </a:rPr>
              <a:t>98 chunkをベクトル化し、K-meansで5クラスタへ。</a:t>
            </a:r>
            <a:endParaRPr lang="en-US" sz="1380" dirty="0"/>
          </a:p>
          <a:p>
            <a:pPr marL="0" indent="0" algn="l">
              <a:buNone/>
            </a:pPr>
            <a:r>
              <a:rPr lang="en-US" sz="1380" dirty="0">
                <a:solidFill>
                  <a:srgbClr val="222222"/>
                </a:solidFill>
                <a:latin typeface="Yu Gothic" pitchFamily="34" charset="0"/>
                <a:ea typeface="Yu Gothic" pitchFamily="34" charset="-122"/>
                <a:cs typeface="Yu Gothic" pitchFamily="34" charset="-120"/>
              </a:rPr>
              <a:t>割合は文書等重みの平均。</a:t>
            </a:r>
            <a:endParaRPr lang="en-US" sz="1380" dirty="0"/>
          </a:p>
        </p:txBody>
      </p:sp>
      <p:sp>
        <p:nvSpPr>
          <p:cNvPr id="7" name="Text 4"/>
          <p:cNvSpPr/>
          <p:nvPr/>
        </p:nvSpPr>
        <p:spPr>
          <a:xfrm>
            <a:off x="8001000" y="2606040"/>
            <a:ext cx="1097280" cy="329184"/>
          </a:xfrm>
          <a:prstGeom prst="rect">
            <a:avLst/>
          </a:prstGeom>
          <a:noFill/>
          <a:ln/>
        </p:spPr>
        <p:txBody>
          <a:bodyPr wrap="square" lIns="1016" tIns="1016" rIns="1016" bIns="1016" rtlCol="0" anchor="ctr">
            <a:normAutofit/>
          </a:bodyPr>
          <a:lstStyle/>
          <a:p>
            <a:pPr marL="0" indent="0" algn="l">
              <a:buNone/>
            </a:pPr>
            <a:r>
              <a:rPr lang="en-US" sz="1550" b="1" dirty="0">
                <a:solidFill>
                  <a:srgbClr val="1F4E79"/>
                </a:solidFill>
                <a:latin typeface="Yu Gothic" pitchFamily="34" charset="0"/>
                <a:ea typeface="Yu Gothic" pitchFamily="34" charset="-122"/>
                <a:cs typeface="Yu Gothic" pitchFamily="34" charset="-120"/>
              </a:rPr>
              <a:t>根拠</a:t>
            </a:r>
            <a:endParaRPr lang="en-US" sz="1550" dirty="0"/>
          </a:p>
        </p:txBody>
      </p:sp>
      <p:sp>
        <p:nvSpPr>
          <p:cNvPr id="8" name="Text 5"/>
          <p:cNvSpPr/>
          <p:nvPr/>
        </p:nvSpPr>
        <p:spPr>
          <a:xfrm>
            <a:off x="8001000" y="2971800"/>
            <a:ext cx="3429000" cy="1234440"/>
          </a:xfrm>
          <a:prstGeom prst="rect">
            <a:avLst/>
          </a:prstGeom>
          <a:noFill/>
          <a:ln/>
        </p:spPr>
        <p:txBody>
          <a:bodyPr wrap="square" lIns="254" tIns="254" rIns="254" bIns="254" rtlCol="0" anchor="ctr">
            <a:normAutofit/>
          </a:bodyPr>
          <a:lstStyle/>
          <a:p>
            <a:pPr marL="0" indent="0">
              <a:buNone/>
            </a:pPr>
            <a:r>
              <a:rPr lang="en-US" sz="1380" dirty="0">
                <a:solidFill>
                  <a:srgbClr val="222222"/>
                </a:solidFill>
                <a:latin typeface="Yu Gothic" pitchFamily="34" charset="0"/>
                <a:ea typeface="Yu Gothic" pitchFamily="34" charset="-122"/>
                <a:cs typeface="Yu Gothic" pitchFamily="34" charset="-120"/>
              </a:rPr>
              <a:t>• 政策声明：具体的な政策手段 0.47</a:t>
            </a:r>
            <a:endParaRPr lang="en-US" sz="1380" dirty="0"/>
          </a:p>
          <a:p>
            <a:pPr marL="0" indent="0">
              <a:buNone/>
            </a:pPr>
            <a:r>
              <a:rPr lang="en-US" sz="1380" dirty="0">
                <a:solidFill>
                  <a:srgbClr val="222222"/>
                </a:solidFill>
                <a:latin typeface="Yu Gothic" pitchFamily="34" charset="0"/>
                <a:ea typeface="Yu Gothic" pitchFamily="34" charset="-122"/>
                <a:cs typeface="Yu Gothic" pitchFamily="34" charset="-120"/>
              </a:rPr>
              <a:t>• 講演：賃金と物価の好循環 0.40</a:t>
            </a:r>
            <a:endParaRPr lang="en-US" sz="1380" dirty="0"/>
          </a:p>
          <a:p>
            <a:pPr marL="0" indent="0">
              <a:buNone/>
            </a:pPr>
            <a:r>
              <a:rPr lang="en-US" sz="1380" dirty="0">
                <a:solidFill>
                  <a:srgbClr val="222222"/>
                </a:solidFill>
                <a:latin typeface="Yu Gothic" pitchFamily="34" charset="0"/>
                <a:ea typeface="Yu Gothic" pitchFamily="34" charset="-122"/>
                <a:cs typeface="Yu Gothic" pitchFamily="34" charset="-120"/>
              </a:rPr>
              <a:t>• 講演：将来の政策経路と条件 0.26</a:t>
            </a:r>
            <a:endParaRPr lang="en-US" sz="1380" dirty="0"/>
          </a:p>
        </p:txBody>
      </p:sp>
      <p:sp>
        <p:nvSpPr>
          <p:cNvPr id="10" name="Text 7"/>
          <p:cNvSpPr/>
          <p:nvPr/>
        </p:nvSpPr>
        <p:spPr>
          <a:xfrm>
            <a:off x="752669" y="4987775"/>
            <a:ext cx="10300996" cy="1846402"/>
          </a:xfrm>
          <a:prstGeom prst="rect">
            <a:avLst/>
          </a:prstGeom>
          <a:solidFill>
            <a:srgbClr val="F3F8FC"/>
          </a:solidFill>
          <a:ln w="12700">
            <a:solidFill>
              <a:srgbClr val="B4CDE4"/>
            </a:solidFill>
          </a:ln>
        </p:spPr>
        <p:txBody>
          <a:bodyPr wrap="square" lIns="1016" tIns="1016" rIns="1016" bIns="1016" rtlCol="0" anchor="ctr">
            <a:normAutofit/>
          </a:bodyPr>
          <a:lstStyle/>
          <a:p>
            <a:r>
              <a:rPr lang="zh-CN" altLang="zh-CN" sz="1600" b="1" dirty="0"/>
              <a:t>政策声明は「具体的な政策手段」と「政策枠組みの転換」に偏る。</a:t>
            </a:r>
            <a:br>
              <a:rPr lang="zh-CN" altLang="zh-CN" sz="1600" dirty="0"/>
            </a:br>
            <a:r>
              <a:rPr lang="zh-CN" altLang="zh-CN" sz="1600" b="1" dirty="0"/>
              <a:t>一方、講演は「賃金と物価の好循環」と「将来の政策経路と条件」に偏る。</a:t>
            </a:r>
            <a:br>
              <a:rPr lang="en-US" altLang="zh-CN" sz="1600" b="1" dirty="0"/>
            </a:br>
            <a:br>
              <a:rPr lang="en-US" altLang="zh-CN" sz="1600" b="1" dirty="0"/>
            </a:br>
            <a:r>
              <a:rPr lang="zh-CN" altLang="zh-CN" sz="1600" dirty="0"/>
              <a:t>正常化の開始は声明側に強く表れるが、今後の追加引き締めは条件付きであるという読みは講演側から生じる。</a:t>
            </a:r>
            <a:endParaRPr lang="en-US" sz="1420" dirty="0"/>
          </a:p>
        </p:txBody>
      </p:sp>
      <p:sp>
        <p:nvSpPr>
          <p:cNvPr id="11" name="Text 8"/>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7/9</a:t>
            </a:r>
            <a:endParaRPr lang="en-US" sz="800" dirty="0"/>
          </a:p>
        </p:txBody>
      </p:sp>
      <p:sp>
        <p:nvSpPr>
          <p:cNvPr id="13" name="文本框 12">
            <a:extLst>
              <a:ext uri="{FF2B5EF4-FFF2-40B4-BE49-F238E27FC236}">
                <a16:creationId xmlns:a16="http://schemas.microsoft.com/office/drawing/2014/main" id="{0BF6CCE0-6E73-D472-AF4C-41D75C6C965F}"/>
              </a:ext>
            </a:extLst>
          </p:cNvPr>
          <p:cNvSpPr txBox="1"/>
          <p:nvPr/>
        </p:nvSpPr>
        <p:spPr>
          <a:xfrm>
            <a:off x="-79248" y="6480863"/>
            <a:ext cx="6096000" cy="461665"/>
          </a:xfrm>
          <a:prstGeom prst="rect">
            <a:avLst/>
          </a:prstGeom>
          <a:noFill/>
        </p:spPr>
        <p:txBody>
          <a:bodyPr wrap="square">
            <a:spAutoFit/>
          </a:bodyPr>
          <a:lstStyle/>
          <a:p>
            <a:r>
              <a:rPr lang="en-US" altLang="zh-CN" sz="1200" dirty="0"/>
              <a:t>u299034j</a:t>
            </a:r>
          </a:p>
          <a:p>
            <a:r>
              <a:rPr lang="en-US" altLang="zh-CN" sz="1200" dirty="0"/>
              <a:t>CHEN WENTAO</a:t>
            </a:r>
            <a:endParaRPr lang="zh-CN" altLang="en-US" sz="1200" dirty="0"/>
          </a:p>
        </p:txBody>
      </p:sp>
      <p:sp>
        <p:nvSpPr>
          <p:cNvPr id="15" name="文本框 14">
            <a:extLst>
              <a:ext uri="{FF2B5EF4-FFF2-40B4-BE49-F238E27FC236}">
                <a16:creationId xmlns:a16="http://schemas.microsoft.com/office/drawing/2014/main" id="{0B4F6D86-FFA1-D734-B276-73051492343B}"/>
              </a:ext>
            </a:extLst>
          </p:cNvPr>
          <p:cNvSpPr txBox="1"/>
          <p:nvPr/>
        </p:nvSpPr>
        <p:spPr>
          <a:xfrm>
            <a:off x="7953724" y="4054037"/>
            <a:ext cx="2727025" cy="430887"/>
          </a:xfrm>
          <a:prstGeom prst="rect">
            <a:avLst/>
          </a:prstGeom>
          <a:noFill/>
        </p:spPr>
        <p:txBody>
          <a:bodyPr wrap="square">
            <a:spAutoFit/>
          </a:bodyPr>
          <a:lstStyle/>
          <a:p>
            <a:r>
              <a:rPr lang="zh-CN" altLang="zh-CN" sz="1100" dirty="0"/>
              <a:t>※ クラスタ名は代表chunkを読んで人手で付けた。結果はk＝5の設定に依存する。</a:t>
            </a:r>
            <a:endParaRPr lang="zh-CN" alt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marL="0" indent="0">
              <a:buNone/>
            </a:pPr>
            <a:r>
              <a:rPr lang="en-US" sz="2400" b="1" dirty="0">
                <a:solidFill>
                  <a:srgbClr val="1F4E79"/>
                </a:solidFill>
                <a:latin typeface="Yu Gothic" pitchFamily="34" charset="0"/>
                <a:ea typeface="Yu Gothic" pitchFamily="34" charset="-122"/>
                <a:cs typeface="Yu Gothic" pitchFamily="34" charset="-120"/>
              </a:rPr>
              <a:t>結果3：生成AI分類</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r>
              <a:rPr lang="zh-CN" altLang="zh-CN" sz="1200" dirty="0"/>
              <a:t>生成AI分類では、声明は政策変更、講演はその条件と経済判断を強く示す</a:t>
            </a:r>
            <a:endParaRPr lang="en-US" sz="1200" dirty="0"/>
          </a:p>
        </p:txBody>
      </p:sp>
      <p:pic>
        <p:nvPicPr>
          <p:cNvPr id="4" name="Image 0" descr="/mnt/data/llm_key_indicators.png"/>
          <p:cNvPicPr>
            <a:picLocks noChangeAspect="1"/>
          </p:cNvPicPr>
          <p:nvPr/>
        </p:nvPicPr>
        <p:blipFill>
          <a:blip r:embed="rId3"/>
          <a:stretch>
            <a:fillRect/>
          </a:stretch>
        </p:blipFill>
        <p:spPr>
          <a:xfrm>
            <a:off x="59238" y="1024128"/>
            <a:ext cx="7765270" cy="4111824"/>
          </a:xfrm>
          <a:prstGeom prst="rect">
            <a:avLst/>
          </a:prstGeom>
        </p:spPr>
      </p:pic>
      <p:sp>
        <p:nvSpPr>
          <p:cNvPr id="5" name="Text 2"/>
          <p:cNvSpPr/>
          <p:nvPr/>
        </p:nvSpPr>
        <p:spPr>
          <a:xfrm>
            <a:off x="8138160" y="1143000"/>
            <a:ext cx="1097280" cy="329184"/>
          </a:xfrm>
          <a:prstGeom prst="rect">
            <a:avLst/>
          </a:prstGeom>
          <a:noFill/>
          <a:ln/>
        </p:spPr>
        <p:txBody>
          <a:bodyPr wrap="square" lIns="1016" tIns="1016" rIns="1016" bIns="1016" rtlCol="0" anchor="ctr">
            <a:normAutofit/>
          </a:bodyPr>
          <a:lstStyle/>
          <a:p>
            <a:pPr marL="0" indent="0" algn="l">
              <a:buNone/>
            </a:pPr>
            <a:r>
              <a:rPr lang="en-US" sz="1550" b="1" dirty="0">
                <a:solidFill>
                  <a:srgbClr val="1F4E79"/>
                </a:solidFill>
                <a:latin typeface="Yu Gothic" pitchFamily="34" charset="0"/>
                <a:ea typeface="Yu Gothic" pitchFamily="34" charset="-122"/>
                <a:cs typeface="Yu Gothic" pitchFamily="34" charset="-120"/>
              </a:rPr>
              <a:t>データ</a:t>
            </a:r>
            <a:endParaRPr lang="en-US" sz="1550" dirty="0"/>
          </a:p>
        </p:txBody>
      </p:sp>
      <p:sp>
        <p:nvSpPr>
          <p:cNvPr id="6" name="Text 3"/>
          <p:cNvSpPr/>
          <p:nvPr/>
        </p:nvSpPr>
        <p:spPr>
          <a:xfrm>
            <a:off x="8138160" y="1536192"/>
            <a:ext cx="3154680" cy="658368"/>
          </a:xfrm>
          <a:prstGeom prst="rect">
            <a:avLst/>
          </a:prstGeom>
          <a:solidFill>
            <a:srgbClr val="FFFFFF"/>
          </a:solidFill>
          <a:ln w="12700">
            <a:solidFill>
              <a:srgbClr val="D7D7D7"/>
            </a:solidFill>
          </a:ln>
        </p:spPr>
        <p:txBody>
          <a:bodyPr wrap="square" lIns="1016" tIns="1016" rIns="1016" bIns="1016" rtlCol="0" anchor="ctr">
            <a:normAutofit/>
          </a:bodyPr>
          <a:lstStyle/>
          <a:p>
            <a:pPr marL="0" indent="0" algn="l">
              <a:buNone/>
            </a:pPr>
            <a:r>
              <a:rPr lang="en-US" sz="1380" dirty="0">
                <a:solidFill>
                  <a:srgbClr val="222222"/>
                </a:solidFill>
                <a:latin typeface="Yu Gothic" pitchFamily="34" charset="0"/>
                <a:ea typeface="Yu Gothic" pitchFamily="34" charset="-122"/>
                <a:cs typeface="Yu Gothic" pitchFamily="34" charset="-120"/>
              </a:rPr>
              <a:t>固定ラベルで各chunkを分類。</a:t>
            </a:r>
            <a:endParaRPr lang="en-US" sz="1380" dirty="0"/>
          </a:p>
          <a:p>
            <a:pPr marL="0" indent="0" algn="l">
              <a:buNone/>
            </a:pPr>
            <a:r>
              <a:rPr lang="en-US" sz="1380" dirty="0">
                <a:solidFill>
                  <a:srgbClr val="222222"/>
                </a:solidFill>
                <a:latin typeface="Yu Gothic" pitchFamily="34" charset="0"/>
                <a:ea typeface="Yu Gothic" pitchFamily="34" charset="-122"/>
                <a:cs typeface="Yu Gothic" pitchFamily="34" charset="-120"/>
              </a:rPr>
              <a:t>自由要約ではなく、分類タスク。</a:t>
            </a:r>
            <a:endParaRPr lang="en-US" sz="1380" dirty="0"/>
          </a:p>
        </p:txBody>
      </p:sp>
      <p:sp>
        <p:nvSpPr>
          <p:cNvPr id="7" name="Text 4"/>
          <p:cNvSpPr/>
          <p:nvPr/>
        </p:nvSpPr>
        <p:spPr>
          <a:xfrm>
            <a:off x="8138160" y="2514600"/>
            <a:ext cx="1097280" cy="329184"/>
          </a:xfrm>
          <a:prstGeom prst="rect">
            <a:avLst/>
          </a:prstGeom>
          <a:noFill/>
          <a:ln/>
        </p:spPr>
        <p:txBody>
          <a:bodyPr wrap="square" lIns="1016" tIns="1016" rIns="1016" bIns="1016" rtlCol="0" anchor="ctr">
            <a:normAutofit/>
          </a:bodyPr>
          <a:lstStyle/>
          <a:p>
            <a:pPr marL="0" indent="0" algn="l">
              <a:buNone/>
            </a:pPr>
            <a:r>
              <a:rPr lang="en-US" sz="1550" b="1" dirty="0">
                <a:solidFill>
                  <a:srgbClr val="1F4E79"/>
                </a:solidFill>
                <a:latin typeface="Yu Gothic" pitchFamily="34" charset="0"/>
                <a:ea typeface="Yu Gothic" pitchFamily="34" charset="-122"/>
                <a:cs typeface="Yu Gothic" pitchFamily="34" charset="-120"/>
              </a:rPr>
              <a:t>根拠</a:t>
            </a:r>
            <a:endParaRPr lang="en-US" sz="1550" dirty="0"/>
          </a:p>
        </p:txBody>
      </p:sp>
      <p:sp>
        <p:nvSpPr>
          <p:cNvPr id="8" name="Text 5"/>
          <p:cNvSpPr/>
          <p:nvPr/>
        </p:nvSpPr>
        <p:spPr>
          <a:xfrm>
            <a:off x="8183880" y="2907792"/>
            <a:ext cx="2971800" cy="868680"/>
          </a:xfrm>
          <a:prstGeom prst="rect">
            <a:avLst/>
          </a:prstGeom>
          <a:solidFill>
            <a:srgbClr val="F3F8FC"/>
          </a:solidFill>
          <a:ln w="12700">
            <a:solidFill>
              <a:srgbClr val="B4CDE4"/>
            </a:solidFill>
          </a:ln>
        </p:spPr>
        <p:txBody>
          <a:bodyPr wrap="square" lIns="1016" tIns="1016" rIns="1016" bIns="1016" rtlCol="0" anchor="ctr">
            <a:normAutofit/>
          </a:bodyPr>
          <a:lstStyle/>
          <a:p>
            <a:pPr marL="0" indent="0" algn="ctr">
              <a:buNone/>
            </a:pPr>
            <a:r>
              <a:rPr lang="en-US" sz="1600" b="1" dirty="0">
                <a:solidFill>
                  <a:srgbClr val="222222"/>
                </a:solidFill>
                <a:latin typeface="Yu Gothic" pitchFamily="34" charset="0"/>
                <a:ea typeface="Yu Gothic" pitchFamily="34" charset="-122"/>
                <a:cs typeface="Yu Gothic" pitchFamily="34" charset="-120"/>
              </a:rPr>
              <a:t>政策声明</a:t>
            </a:r>
            <a:endParaRPr lang="en-US" sz="1600" dirty="0"/>
          </a:p>
          <a:p>
            <a:pPr marL="0" indent="0" algn="ctr">
              <a:buNone/>
            </a:pPr>
            <a:r>
              <a:rPr lang="en-US" sz="1600" b="1" dirty="0">
                <a:solidFill>
                  <a:srgbClr val="222222"/>
                </a:solidFill>
                <a:latin typeface="Yu Gothic" pitchFamily="34" charset="0"/>
                <a:ea typeface="Yu Gothic" pitchFamily="34" charset="-122"/>
                <a:cs typeface="Yu Gothic" pitchFamily="34" charset="-120"/>
              </a:rPr>
              <a:t>政策行動 0.58</a:t>
            </a:r>
            <a:endParaRPr lang="en-US" sz="1600" dirty="0"/>
          </a:p>
          <a:p>
            <a:pPr marL="0" indent="0" algn="ctr">
              <a:buNone/>
            </a:pPr>
            <a:r>
              <a:rPr lang="en-US" sz="1600" b="1" dirty="0">
                <a:solidFill>
                  <a:srgbClr val="222222"/>
                </a:solidFill>
                <a:latin typeface="Yu Gothic" pitchFamily="34" charset="0"/>
                <a:ea typeface="Yu Gothic" pitchFamily="34" charset="-122"/>
                <a:cs typeface="Yu Gothic" pitchFamily="34" charset="-120"/>
              </a:rPr>
              <a:t>明確 0.53</a:t>
            </a:r>
            <a:endParaRPr lang="en-US" sz="1600" dirty="0"/>
          </a:p>
        </p:txBody>
      </p:sp>
      <p:sp>
        <p:nvSpPr>
          <p:cNvPr id="9" name="Text 6"/>
          <p:cNvSpPr/>
          <p:nvPr/>
        </p:nvSpPr>
        <p:spPr>
          <a:xfrm>
            <a:off x="8183880" y="4069080"/>
            <a:ext cx="2971800" cy="1024128"/>
          </a:xfrm>
          <a:prstGeom prst="rect">
            <a:avLst/>
          </a:prstGeom>
          <a:solidFill>
            <a:srgbClr val="FFF7EF"/>
          </a:solidFill>
          <a:ln w="12700">
            <a:solidFill>
              <a:srgbClr val="EBC9A8"/>
            </a:solidFill>
          </a:ln>
        </p:spPr>
        <p:txBody>
          <a:bodyPr wrap="square" lIns="1016" tIns="1016" rIns="1016" bIns="1016" rtlCol="0" anchor="ctr">
            <a:normAutofit/>
          </a:bodyPr>
          <a:lstStyle/>
          <a:p>
            <a:pPr marL="0" indent="0" algn="ctr">
              <a:buNone/>
            </a:pPr>
            <a:r>
              <a:rPr lang="en-US" sz="1540" b="1" dirty="0">
                <a:solidFill>
                  <a:srgbClr val="222222"/>
                </a:solidFill>
                <a:latin typeface="Yu Gothic" pitchFamily="34" charset="0"/>
                <a:ea typeface="Yu Gothic" pitchFamily="34" charset="-122"/>
                <a:cs typeface="Yu Gothic" pitchFamily="34" charset="-120"/>
              </a:rPr>
              <a:t>講演</a:t>
            </a:r>
            <a:endParaRPr lang="en-US" sz="1540" dirty="0"/>
          </a:p>
          <a:p>
            <a:pPr marL="0" indent="0" algn="ctr">
              <a:buNone/>
            </a:pPr>
            <a:r>
              <a:rPr lang="en-US" sz="1540" b="1" dirty="0">
                <a:solidFill>
                  <a:srgbClr val="222222"/>
                </a:solidFill>
                <a:latin typeface="Yu Gothic" pitchFamily="34" charset="0"/>
                <a:ea typeface="Yu Gothic" pitchFamily="34" charset="-122"/>
                <a:cs typeface="Yu Gothic" pitchFamily="34" charset="-120"/>
              </a:rPr>
              <a:t>政策の根拠 0.22</a:t>
            </a:r>
            <a:endParaRPr lang="en-US" sz="1540" dirty="0"/>
          </a:p>
          <a:p>
            <a:pPr marL="0" indent="0" algn="ctr">
              <a:buNone/>
            </a:pPr>
            <a:r>
              <a:rPr lang="en-US" sz="1540" b="1" dirty="0">
                <a:solidFill>
                  <a:srgbClr val="222222"/>
                </a:solidFill>
                <a:latin typeface="Yu Gothic" pitchFamily="34" charset="0"/>
                <a:ea typeface="Yu Gothic" pitchFamily="34" charset="-122"/>
                <a:cs typeface="Yu Gothic" pitchFamily="34" charset="-120"/>
              </a:rPr>
              <a:t>経済見通し 0.21</a:t>
            </a:r>
            <a:endParaRPr lang="en-US" sz="1540" dirty="0"/>
          </a:p>
          <a:p>
            <a:pPr marL="0" indent="0" algn="ctr">
              <a:buNone/>
            </a:pPr>
            <a:r>
              <a:rPr lang="en-US" sz="1540" b="1" dirty="0">
                <a:solidFill>
                  <a:srgbClr val="222222"/>
                </a:solidFill>
                <a:latin typeface="Yu Gothic" pitchFamily="34" charset="0"/>
                <a:ea typeface="Yu Gothic" pitchFamily="34" charset="-122"/>
                <a:cs typeface="Yu Gothic" pitchFamily="34" charset="-120"/>
              </a:rPr>
              <a:t>慎重 0.23</a:t>
            </a:r>
            <a:endParaRPr lang="en-US" sz="1540" dirty="0"/>
          </a:p>
        </p:txBody>
      </p:sp>
      <p:sp>
        <p:nvSpPr>
          <p:cNvPr id="10" name="Text 7"/>
          <p:cNvSpPr/>
          <p:nvPr/>
        </p:nvSpPr>
        <p:spPr>
          <a:xfrm>
            <a:off x="1005840" y="5156717"/>
            <a:ext cx="10149840" cy="1701283"/>
          </a:xfrm>
          <a:prstGeom prst="rect">
            <a:avLst/>
          </a:prstGeom>
          <a:solidFill>
            <a:srgbClr val="F6F6F6"/>
          </a:solidFill>
          <a:ln w="12700">
            <a:solidFill>
              <a:srgbClr val="D7D7D7"/>
            </a:solidFill>
          </a:ln>
        </p:spPr>
        <p:txBody>
          <a:bodyPr wrap="square" lIns="1016" tIns="1016" rIns="1016" bIns="1016" rtlCol="0" anchor="ctr">
            <a:normAutofit/>
          </a:bodyPr>
          <a:lstStyle/>
          <a:p>
            <a:r>
              <a:rPr lang="zh-CN" altLang="zh-CN" sz="2000" b="1" dirty="0"/>
              <a:t>政策声明では「政策行動」が58％を占め、政策変更そのものが前面に出ている。</a:t>
            </a:r>
            <a:br>
              <a:rPr lang="zh-CN" altLang="zh-CN" sz="2000" dirty="0"/>
            </a:br>
            <a:r>
              <a:rPr lang="zh-CN" altLang="zh-CN" sz="2000" b="1" dirty="0"/>
              <a:t>一方、講演では「政策の根拠」「経済見通し」「慎重」が相対的に多く、追加的な引き締めよりも、政策変更の条件と経済判断が強調されている。</a:t>
            </a:r>
            <a:endParaRPr lang="en-US" dirty="0"/>
          </a:p>
        </p:txBody>
      </p:sp>
      <p:sp>
        <p:nvSpPr>
          <p:cNvPr id="11" name="Text 8"/>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8/9</a:t>
            </a:r>
            <a:endParaRPr lang="en-US" sz="800" dirty="0"/>
          </a:p>
        </p:txBody>
      </p:sp>
      <p:sp>
        <p:nvSpPr>
          <p:cNvPr id="13" name="文本框 12">
            <a:extLst>
              <a:ext uri="{FF2B5EF4-FFF2-40B4-BE49-F238E27FC236}">
                <a16:creationId xmlns:a16="http://schemas.microsoft.com/office/drawing/2014/main" id="{5F8FD7D0-E717-D98D-962D-563127A22D73}"/>
              </a:ext>
            </a:extLst>
          </p:cNvPr>
          <p:cNvSpPr txBox="1"/>
          <p:nvPr/>
        </p:nvSpPr>
        <p:spPr>
          <a:xfrm>
            <a:off x="-79248" y="6480863"/>
            <a:ext cx="6096000" cy="461665"/>
          </a:xfrm>
          <a:prstGeom prst="rect">
            <a:avLst/>
          </a:prstGeom>
          <a:noFill/>
        </p:spPr>
        <p:txBody>
          <a:bodyPr wrap="square">
            <a:spAutoFit/>
          </a:bodyPr>
          <a:lstStyle/>
          <a:p>
            <a:r>
              <a:rPr lang="en-US" altLang="zh-CN" sz="1200" dirty="0"/>
              <a:t>u299034j</a:t>
            </a:r>
          </a:p>
          <a:p>
            <a:r>
              <a:rPr lang="en-US" altLang="zh-CN" sz="1200" dirty="0"/>
              <a:t>CHEN WENTAO</a:t>
            </a:r>
            <a:endParaRPr lang="zh-CN" alt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11155680" cy="384048"/>
          </a:xfrm>
          <a:prstGeom prst="rect">
            <a:avLst/>
          </a:prstGeom>
          <a:noFill/>
          <a:ln/>
        </p:spPr>
        <p:txBody>
          <a:bodyPr wrap="square" lIns="0" tIns="0" rIns="0" bIns="0" rtlCol="0" anchor="ctr">
            <a:normAutofit/>
          </a:bodyPr>
          <a:lstStyle/>
          <a:p>
            <a:pPr marL="0" indent="0">
              <a:buNone/>
            </a:pPr>
            <a:r>
              <a:rPr lang="en-US" sz="2400" b="1" dirty="0">
                <a:solidFill>
                  <a:srgbClr val="1F4E79"/>
                </a:solidFill>
                <a:latin typeface="Yu Gothic" pitchFamily="34" charset="0"/>
                <a:ea typeface="Yu Gothic" pitchFamily="34" charset="-122"/>
                <a:cs typeface="Yu Gothic" pitchFamily="34" charset="-120"/>
              </a:rPr>
              <a:t>ズレの説明と最終判断</a:t>
            </a:r>
            <a:endParaRPr lang="en-US" sz="2400" dirty="0"/>
          </a:p>
        </p:txBody>
      </p:sp>
      <p:sp>
        <p:nvSpPr>
          <p:cNvPr id="3" name="Text 1"/>
          <p:cNvSpPr/>
          <p:nvPr/>
        </p:nvSpPr>
        <p:spPr>
          <a:xfrm>
            <a:off x="530352" y="713232"/>
            <a:ext cx="10972800" cy="256032"/>
          </a:xfrm>
          <a:prstGeom prst="rect">
            <a:avLst/>
          </a:prstGeom>
          <a:noFill/>
          <a:ln/>
        </p:spPr>
        <p:txBody>
          <a:bodyPr wrap="square" lIns="0" tIns="0" rIns="0" bIns="0" rtlCol="0" anchor="ctr">
            <a:normAutofit/>
          </a:bodyPr>
          <a:lstStyle/>
          <a:p>
            <a:pPr marL="0" indent="0">
              <a:buNone/>
            </a:pPr>
            <a:r>
              <a:rPr lang="en-US" sz="1200" dirty="0">
                <a:solidFill>
                  <a:srgbClr val="666666"/>
                </a:solidFill>
                <a:latin typeface="Yu Gothic" pitchFamily="34" charset="0"/>
                <a:ea typeface="Yu Gothic" pitchFamily="34" charset="-122"/>
                <a:cs typeface="Yu Gothic" pitchFamily="34" charset="-120"/>
              </a:rPr>
              <a:t>違う結果に見えるのは、手法が見ている単位が違うから</a:t>
            </a:r>
            <a:endParaRPr lang="en-US" sz="1200" dirty="0"/>
          </a:p>
        </p:txBody>
      </p:sp>
      <p:sp>
        <p:nvSpPr>
          <p:cNvPr id="4" name="Text 2"/>
          <p:cNvSpPr/>
          <p:nvPr/>
        </p:nvSpPr>
        <p:spPr>
          <a:xfrm>
            <a:off x="685800" y="1524370"/>
            <a:ext cx="1417320" cy="384048"/>
          </a:xfrm>
          <a:prstGeom prst="rect">
            <a:avLst/>
          </a:prstGeom>
          <a:solidFill>
            <a:srgbClr val="1F4E79"/>
          </a:solidFill>
          <a:ln/>
        </p:spPr>
        <p:txBody>
          <a:bodyPr wrap="square" lIns="1016" tIns="1016" rIns="1016" bIns="1016" rtlCol="0" anchor="ctr">
            <a:normAutofit/>
          </a:bodyPr>
          <a:lstStyle/>
          <a:p>
            <a:pPr marL="0" indent="0" algn="ctr">
              <a:buNone/>
            </a:pPr>
            <a:r>
              <a:rPr lang="en-US" sz="1550" b="1" dirty="0">
                <a:solidFill>
                  <a:srgbClr val="FFFFFF"/>
                </a:solidFill>
                <a:latin typeface="Yu Gothic" pitchFamily="34" charset="0"/>
                <a:ea typeface="Yu Gothic" pitchFamily="34" charset="-122"/>
                <a:cs typeface="Yu Gothic" pitchFamily="34" charset="-120"/>
              </a:rPr>
              <a:t>TF-IDF</a:t>
            </a:r>
            <a:endParaRPr lang="en-US" sz="1550" dirty="0"/>
          </a:p>
        </p:txBody>
      </p:sp>
      <p:sp>
        <p:nvSpPr>
          <p:cNvPr id="5" name="Text 3"/>
          <p:cNvSpPr/>
          <p:nvPr/>
        </p:nvSpPr>
        <p:spPr>
          <a:xfrm>
            <a:off x="2286000" y="1142999"/>
            <a:ext cx="2926080" cy="1152331"/>
          </a:xfrm>
          <a:prstGeom prst="rect">
            <a:avLst/>
          </a:prstGeom>
          <a:solidFill>
            <a:srgbClr val="FFFFFF"/>
          </a:solidFill>
          <a:ln w="12700">
            <a:solidFill>
              <a:srgbClr val="D7D7D7"/>
            </a:solidFill>
          </a:ln>
        </p:spPr>
        <p:txBody>
          <a:bodyPr wrap="square" lIns="1016" tIns="1016" rIns="1016" bIns="1016" rtlCol="0" anchor="ctr">
            <a:normAutofit/>
          </a:bodyPr>
          <a:lstStyle/>
          <a:p>
            <a:r>
              <a:rPr lang="zh-CN" altLang="zh-CN" sz="1600" b="1" dirty="0"/>
              <a:t>単語の出現差を見るため、政策手段の語が強く出る。</a:t>
            </a:r>
            <a:br>
              <a:rPr lang="zh-CN" altLang="zh-CN" sz="1600" dirty="0"/>
            </a:br>
            <a:r>
              <a:rPr lang="zh-CN" altLang="zh-CN" sz="1600" b="1" dirty="0"/>
              <a:t>条件性や慎重さは捉えにくい。</a:t>
            </a:r>
            <a:endParaRPr lang="en-US" sz="1420" dirty="0"/>
          </a:p>
        </p:txBody>
      </p:sp>
      <p:sp>
        <p:nvSpPr>
          <p:cNvPr id="6" name="Text 4"/>
          <p:cNvSpPr/>
          <p:nvPr/>
        </p:nvSpPr>
        <p:spPr>
          <a:xfrm>
            <a:off x="685800" y="2572636"/>
            <a:ext cx="1417320" cy="384048"/>
          </a:xfrm>
          <a:prstGeom prst="rect">
            <a:avLst/>
          </a:prstGeom>
          <a:solidFill>
            <a:srgbClr val="1F4E79"/>
          </a:solidFill>
          <a:ln/>
        </p:spPr>
        <p:txBody>
          <a:bodyPr wrap="square" lIns="1016" tIns="1016" rIns="1016" bIns="1016" rtlCol="0" anchor="ctr">
            <a:normAutofit/>
          </a:bodyPr>
          <a:lstStyle/>
          <a:p>
            <a:pPr marL="0" indent="0" algn="ctr">
              <a:buNone/>
            </a:pPr>
            <a:r>
              <a:rPr lang="en-US" sz="1550" b="1" dirty="0">
                <a:solidFill>
                  <a:srgbClr val="FFFFFF"/>
                </a:solidFill>
                <a:latin typeface="Yu Gothic" pitchFamily="34" charset="0"/>
                <a:ea typeface="Yu Gothic" pitchFamily="34" charset="-122"/>
                <a:cs typeface="Yu Gothic" pitchFamily="34" charset="-120"/>
              </a:rPr>
              <a:t>Embedding</a:t>
            </a:r>
            <a:endParaRPr lang="en-US" sz="1550" dirty="0"/>
          </a:p>
        </p:txBody>
      </p:sp>
      <p:sp>
        <p:nvSpPr>
          <p:cNvPr id="7" name="Text 5"/>
          <p:cNvSpPr/>
          <p:nvPr/>
        </p:nvSpPr>
        <p:spPr>
          <a:xfrm>
            <a:off x="2286000" y="2535565"/>
            <a:ext cx="2926080" cy="1345970"/>
          </a:xfrm>
          <a:prstGeom prst="rect">
            <a:avLst/>
          </a:prstGeom>
          <a:solidFill>
            <a:srgbClr val="FFFFFF"/>
          </a:solidFill>
          <a:ln w="12700">
            <a:solidFill>
              <a:srgbClr val="D7D7D7"/>
            </a:solidFill>
          </a:ln>
        </p:spPr>
        <p:txBody>
          <a:bodyPr wrap="square" lIns="1016" tIns="1016" rIns="1016" bIns="1016" rtlCol="0" anchor="ctr">
            <a:normAutofit/>
          </a:bodyPr>
          <a:lstStyle/>
          <a:p>
            <a:r>
              <a:rPr lang="zh-CN" altLang="zh-CN" sz="1600" b="1" dirty="0"/>
              <a:t>chunk全体の意味的近さを見るため、政策手段と経済条件のテーマ分担が見える。</a:t>
            </a:r>
            <a:br>
              <a:rPr lang="zh-CN" altLang="zh-CN" sz="1600" dirty="0"/>
            </a:br>
            <a:r>
              <a:rPr lang="zh-CN" altLang="zh-CN" sz="1600" b="1" dirty="0"/>
              <a:t>ただし、クラスタ数と命名は研究者の判断に依存する。</a:t>
            </a:r>
            <a:endParaRPr lang="en-US" sz="1420" dirty="0"/>
          </a:p>
        </p:txBody>
      </p:sp>
      <p:sp>
        <p:nvSpPr>
          <p:cNvPr id="8" name="Text 6"/>
          <p:cNvSpPr/>
          <p:nvPr/>
        </p:nvSpPr>
        <p:spPr>
          <a:xfrm>
            <a:off x="685800" y="4240138"/>
            <a:ext cx="1417320" cy="384048"/>
          </a:xfrm>
          <a:prstGeom prst="rect">
            <a:avLst/>
          </a:prstGeom>
          <a:solidFill>
            <a:srgbClr val="1F4E79"/>
          </a:solidFill>
          <a:ln/>
        </p:spPr>
        <p:txBody>
          <a:bodyPr wrap="square" lIns="1016" tIns="1016" rIns="1016" bIns="1016" rtlCol="0" anchor="ctr">
            <a:normAutofit/>
          </a:bodyPr>
          <a:lstStyle/>
          <a:p>
            <a:pPr marL="0" indent="0" algn="ctr">
              <a:buNone/>
            </a:pPr>
            <a:r>
              <a:rPr lang="en-US" sz="1550" b="1" dirty="0">
                <a:solidFill>
                  <a:srgbClr val="FFFFFF"/>
                </a:solidFill>
                <a:latin typeface="Yu Gothic" pitchFamily="34" charset="0"/>
                <a:ea typeface="Yu Gothic" pitchFamily="34" charset="-122"/>
                <a:cs typeface="Yu Gothic" pitchFamily="34" charset="-120"/>
              </a:rPr>
              <a:t>生成AI</a:t>
            </a:r>
            <a:endParaRPr lang="en-US" sz="1550" dirty="0"/>
          </a:p>
        </p:txBody>
      </p:sp>
      <p:sp>
        <p:nvSpPr>
          <p:cNvPr id="9" name="Text 7"/>
          <p:cNvSpPr/>
          <p:nvPr/>
        </p:nvSpPr>
        <p:spPr>
          <a:xfrm>
            <a:off x="2286000" y="4148698"/>
            <a:ext cx="2926080" cy="1105922"/>
          </a:xfrm>
          <a:prstGeom prst="rect">
            <a:avLst/>
          </a:prstGeom>
          <a:solidFill>
            <a:srgbClr val="FFFFFF"/>
          </a:solidFill>
          <a:ln w="12700">
            <a:solidFill>
              <a:srgbClr val="D7D7D7"/>
            </a:solidFill>
          </a:ln>
        </p:spPr>
        <p:txBody>
          <a:bodyPr wrap="square" lIns="1016" tIns="1016" rIns="1016" bIns="1016" rtlCol="0" anchor="ctr">
            <a:normAutofit fontScale="92500" lnSpcReduction="10000"/>
          </a:bodyPr>
          <a:lstStyle/>
          <a:p>
            <a:r>
              <a:rPr lang="zh-CN" altLang="zh-CN" sz="1600" b="1" dirty="0"/>
              <a:t>文脈から発話の機能と確実性を分類するため、慎重さや条件性が見える。</a:t>
            </a:r>
            <a:br>
              <a:rPr lang="zh-CN" altLang="zh-CN" sz="1600" dirty="0"/>
            </a:br>
            <a:r>
              <a:rPr lang="zh-CN" altLang="zh-CN" sz="1600" b="1" dirty="0"/>
              <a:t>ただし、結果はPromptとモデル判断に依存する。</a:t>
            </a:r>
            <a:endParaRPr lang="en-US" sz="1420" dirty="0"/>
          </a:p>
        </p:txBody>
      </p:sp>
      <p:sp>
        <p:nvSpPr>
          <p:cNvPr id="10" name="Text 8"/>
          <p:cNvSpPr/>
          <p:nvPr/>
        </p:nvSpPr>
        <p:spPr>
          <a:xfrm>
            <a:off x="5467738" y="1039645"/>
            <a:ext cx="1463040" cy="384048"/>
          </a:xfrm>
          <a:prstGeom prst="rect">
            <a:avLst/>
          </a:prstGeom>
          <a:noFill/>
          <a:ln/>
        </p:spPr>
        <p:txBody>
          <a:bodyPr wrap="square" lIns="1016" tIns="1016" rIns="1016" bIns="1016" rtlCol="0" anchor="ctr">
            <a:normAutofit/>
          </a:bodyPr>
          <a:lstStyle/>
          <a:p>
            <a:pPr marL="0" indent="0" algn="l">
              <a:buNone/>
            </a:pPr>
            <a:r>
              <a:rPr lang="en-US" sz="1550" b="1" dirty="0" err="1">
                <a:solidFill>
                  <a:srgbClr val="1F4E79"/>
                </a:solidFill>
                <a:latin typeface="Yu Gothic" pitchFamily="34" charset="0"/>
                <a:ea typeface="Yu Gothic" pitchFamily="34" charset="-122"/>
                <a:cs typeface="Yu Gothic" pitchFamily="34" charset="-120"/>
              </a:rPr>
              <a:t>判断</a:t>
            </a:r>
            <a:endParaRPr lang="en-US" sz="1550" dirty="0"/>
          </a:p>
        </p:txBody>
      </p:sp>
      <p:sp>
        <p:nvSpPr>
          <p:cNvPr id="11" name="Text 9"/>
          <p:cNvSpPr/>
          <p:nvPr/>
        </p:nvSpPr>
        <p:spPr>
          <a:xfrm>
            <a:off x="5492620" y="1367813"/>
            <a:ext cx="5845940" cy="1695427"/>
          </a:xfrm>
          <a:prstGeom prst="rect">
            <a:avLst/>
          </a:prstGeom>
          <a:solidFill>
            <a:srgbClr val="F3F8FC"/>
          </a:solidFill>
          <a:ln w="12700">
            <a:solidFill>
              <a:srgbClr val="B4CDE4"/>
            </a:solidFill>
          </a:ln>
        </p:spPr>
        <p:txBody>
          <a:bodyPr wrap="square" lIns="1016" tIns="1016" rIns="1016" bIns="1016" rtlCol="0" anchor="ctr">
            <a:normAutofit/>
          </a:bodyPr>
          <a:lstStyle/>
          <a:p>
            <a:r>
              <a:rPr lang="zh-CN" altLang="zh-CN" sz="2000" b="1" dirty="0"/>
              <a:t>政策声明は、マイナス金利終了を「金融正常化の開始」として示している。</a:t>
            </a:r>
            <a:br>
              <a:rPr lang="zh-CN" altLang="zh-CN" sz="2000" dirty="0"/>
            </a:br>
            <a:r>
              <a:rPr lang="zh-CN" altLang="zh-CN" sz="2000" b="1" dirty="0"/>
              <a:t>一方、講演は、それが直ちに追加的な引き締めを意味しないことを強調している。</a:t>
            </a:r>
            <a:endParaRPr lang="en-US" sz="2000" dirty="0"/>
          </a:p>
        </p:txBody>
      </p:sp>
      <p:sp>
        <p:nvSpPr>
          <p:cNvPr id="12" name="Text 10"/>
          <p:cNvSpPr/>
          <p:nvPr/>
        </p:nvSpPr>
        <p:spPr>
          <a:xfrm>
            <a:off x="5492620" y="3482879"/>
            <a:ext cx="1463040" cy="347472"/>
          </a:xfrm>
          <a:prstGeom prst="rect">
            <a:avLst/>
          </a:prstGeom>
          <a:noFill/>
          <a:ln/>
        </p:spPr>
        <p:txBody>
          <a:bodyPr wrap="square" lIns="1016" tIns="1016" rIns="1016" bIns="1016" rtlCol="0" anchor="ctr">
            <a:normAutofit/>
          </a:bodyPr>
          <a:lstStyle/>
          <a:p>
            <a:pPr marL="0" indent="0" algn="l">
              <a:buNone/>
            </a:pPr>
            <a:r>
              <a:rPr lang="en-US" sz="1500" b="1" dirty="0">
                <a:solidFill>
                  <a:srgbClr val="1F4E79"/>
                </a:solidFill>
                <a:latin typeface="Yu Gothic" pitchFamily="34" charset="0"/>
                <a:ea typeface="Yu Gothic" pitchFamily="34" charset="-122"/>
                <a:cs typeface="Yu Gothic" pitchFamily="34" charset="-120"/>
              </a:rPr>
              <a:t>したがって</a:t>
            </a:r>
            <a:endParaRPr lang="en-US" sz="1500" dirty="0"/>
          </a:p>
        </p:txBody>
      </p:sp>
      <p:sp>
        <p:nvSpPr>
          <p:cNvPr id="13" name="Text 11"/>
          <p:cNvSpPr/>
          <p:nvPr/>
        </p:nvSpPr>
        <p:spPr>
          <a:xfrm>
            <a:off x="5492620" y="3776471"/>
            <a:ext cx="6332376" cy="1397923"/>
          </a:xfrm>
          <a:prstGeom prst="rect">
            <a:avLst/>
          </a:prstGeom>
          <a:solidFill>
            <a:srgbClr val="FFF7EF"/>
          </a:solidFill>
          <a:ln w="12700">
            <a:solidFill>
              <a:srgbClr val="EBC9A8"/>
            </a:solidFill>
          </a:ln>
        </p:spPr>
        <p:txBody>
          <a:bodyPr wrap="square" lIns="1016" tIns="1016" rIns="1016" bIns="1016" rtlCol="0" anchor="ctr">
            <a:normAutofit/>
          </a:bodyPr>
          <a:lstStyle/>
          <a:p>
            <a:r>
              <a:rPr lang="zh-CN" altLang="zh-CN" sz="2000" b="1" dirty="0"/>
              <a:t>声明だけを読むと「正常化の開始」という解釈が強い。</a:t>
            </a:r>
            <a:br>
              <a:rPr lang="zh-CN" altLang="zh-CN" sz="2000" b="1" dirty="0"/>
            </a:br>
            <a:r>
              <a:rPr lang="zh-CN" altLang="zh-CN" sz="2000" b="1" dirty="0"/>
              <a:t>講演まで含めると、「</a:t>
            </a:r>
            <a:r>
              <a:rPr lang="zh-CN" altLang="zh-CN" sz="2000" dirty="0"/>
              <a:t>追加的な金融引き締めを直ちに示すものではない</a:t>
            </a:r>
            <a:r>
              <a:rPr lang="zh-CN" altLang="zh-CN" sz="2000" b="1" dirty="0"/>
              <a:t>」という解釈がより強くなる。</a:t>
            </a:r>
            <a:endParaRPr lang="en-US" sz="2000" b="1" dirty="0"/>
          </a:p>
        </p:txBody>
      </p:sp>
      <p:sp>
        <p:nvSpPr>
          <p:cNvPr id="14" name="Text 12"/>
          <p:cNvSpPr/>
          <p:nvPr/>
        </p:nvSpPr>
        <p:spPr>
          <a:xfrm>
            <a:off x="901959" y="5779420"/>
            <a:ext cx="1554480" cy="320040"/>
          </a:xfrm>
          <a:prstGeom prst="rect">
            <a:avLst/>
          </a:prstGeom>
          <a:noFill/>
          <a:ln/>
        </p:spPr>
        <p:txBody>
          <a:bodyPr wrap="square" lIns="1016" tIns="1016" rIns="1016" bIns="1016" rtlCol="0" anchor="ctr">
            <a:normAutofit/>
          </a:bodyPr>
          <a:lstStyle/>
          <a:p>
            <a:pPr marL="0" indent="0" algn="l">
              <a:buNone/>
            </a:pPr>
            <a:r>
              <a:rPr lang="en-US" sz="1450" b="1" dirty="0" err="1">
                <a:solidFill>
                  <a:srgbClr val="1F4E79"/>
                </a:solidFill>
                <a:latin typeface="Yu Gothic" pitchFamily="34" charset="0"/>
                <a:ea typeface="Yu Gothic" pitchFamily="34" charset="-122"/>
                <a:cs typeface="Yu Gothic" pitchFamily="34" charset="-120"/>
              </a:rPr>
              <a:t>批判</a:t>
            </a:r>
            <a:r>
              <a:rPr lang="en-US" sz="1450" b="1" dirty="0">
                <a:solidFill>
                  <a:srgbClr val="1F4E79"/>
                </a:solidFill>
                <a:latin typeface="Yu Gothic" pitchFamily="34" charset="0"/>
                <a:ea typeface="Yu Gothic" pitchFamily="34" charset="-122"/>
                <a:cs typeface="Yu Gothic" pitchFamily="34" charset="-120"/>
              </a:rPr>
              <a:t>&amp;</a:t>
            </a:r>
            <a:r>
              <a:rPr lang="zh-CN" altLang="en-US" sz="1450" b="1" dirty="0">
                <a:solidFill>
                  <a:srgbClr val="1F4E79"/>
                </a:solidFill>
                <a:latin typeface="Yu Gothic" pitchFamily="34" charset="0"/>
                <a:ea typeface="Yu Gothic" pitchFamily="34" charset="-122"/>
                <a:cs typeface="Yu Gothic" pitchFamily="34" charset="-120"/>
              </a:rPr>
              <a:t>限界</a:t>
            </a:r>
            <a:endParaRPr lang="en-US" sz="1450" dirty="0"/>
          </a:p>
        </p:txBody>
      </p:sp>
      <p:sp>
        <p:nvSpPr>
          <p:cNvPr id="15" name="Text 13"/>
          <p:cNvSpPr/>
          <p:nvPr/>
        </p:nvSpPr>
        <p:spPr>
          <a:xfrm>
            <a:off x="901959" y="6083252"/>
            <a:ext cx="11127066" cy="320040"/>
          </a:xfrm>
          <a:prstGeom prst="rect">
            <a:avLst/>
          </a:prstGeom>
          <a:noFill/>
          <a:ln/>
        </p:spPr>
        <p:txBody>
          <a:bodyPr wrap="square" lIns="0" tIns="0" rIns="0" bIns="0" rtlCol="0" anchor="ctr">
            <a:normAutofit fontScale="92500"/>
          </a:bodyPr>
          <a:lstStyle/>
          <a:p>
            <a:pPr marL="0" indent="0">
              <a:buNone/>
            </a:pPr>
            <a:r>
              <a:rPr lang="ja-JP" altLang="en-US" sz="1220" dirty="0">
                <a:solidFill>
                  <a:srgbClr val="666666"/>
                </a:solidFill>
              </a:rPr>
              <a:t>対象は</a:t>
            </a:r>
            <a:r>
              <a:rPr lang="en-US" altLang="ja-JP" sz="1220" dirty="0">
                <a:solidFill>
                  <a:srgbClr val="666666"/>
                </a:solidFill>
              </a:rPr>
              <a:t>4</a:t>
            </a:r>
            <a:r>
              <a:rPr lang="ja-JP" altLang="en-US" sz="1220" dirty="0">
                <a:solidFill>
                  <a:srgbClr val="666666"/>
                </a:solidFill>
              </a:rPr>
              <a:t>文書のみであり、文書ジャンルの差も含まれる。クラスタ名は手動命名、生成</a:t>
            </a:r>
            <a:r>
              <a:rPr lang="en-US" altLang="ja-JP" sz="1220" dirty="0">
                <a:solidFill>
                  <a:srgbClr val="666666"/>
                </a:solidFill>
              </a:rPr>
              <a:t>AI</a:t>
            </a:r>
            <a:r>
              <a:rPr lang="ja-JP" altLang="en-US" sz="1220" dirty="0">
                <a:solidFill>
                  <a:srgbClr val="666666"/>
                </a:solidFill>
              </a:rPr>
              <a:t>分類は</a:t>
            </a:r>
            <a:r>
              <a:rPr lang="en-US" altLang="ja-JP" sz="1220" dirty="0">
                <a:solidFill>
                  <a:srgbClr val="666666"/>
                </a:solidFill>
              </a:rPr>
              <a:t>Prompt</a:t>
            </a:r>
            <a:r>
              <a:rPr lang="ja-JP" altLang="en-US" sz="1220" dirty="0">
                <a:solidFill>
                  <a:srgbClr val="666666"/>
                </a:solidFill>
              </a:rPr>
              <a:t>依存である。本分析は日銀の意図や市場反応を直接検証していない。</a:t>
            </a:r>
            <a:endParaRPr lang="en-US" sz="1220" dirty="0"/>
          </a:p>
        </p:txBody>
      </p:sp>
      <p:sp>
        <p:nvSpPr>
          <p:cNvPr id="16" name="Text 14"/>
          <p:cNvSpPr/>
          <p:nvPr/>
        </p:nvSpPr>
        <p:spPr>
          <a:xfrm>
            <a:off x="11137392" y="6547104"/>
            <a:ext cx="502920" cy="164592"/>
          </a:xfrm>
          <a:prstGeom prst="rect">
            <a:avLst/>
          </a:prstGeom>
          <a:noFill/>
          <a:ln/>
        </p:spPr>
        <p:txBody>
          <a:bodyPr wrap="square" lIns="0" tIns="0" rIns="0" bIns="0" rtlCol="0" anchor="ctr"/>
          <a:lstStyle/>
          <a:p>
            <a:pPr marL="0" indent="0" algn="r">
              <a:buNone/>
            </a:pPr>
            <a:r>
              <a:rPr sz="1000">
                <a:solidFill>
                  <a:srgbClr val="5D6770"/>
                </a:solidFill>
                <a:latin typeface="Yu Gothic"/>
              </a:rPr>
              <a:t>9/9</a:t>
            </a:r>
            <a:endParaRPr lang="en-US" sz="800" dirty="0"/>
          </a:p>
        </p:txBody>
      </p:sp>
      <p:sp>
        <p:nvSpPr>
          <p:cNvPr id="18" name="文本框 17">
            <a:extLst>
              <a:ext uri="{FF2B5EF4-FFF2-40B4-BE49-F238E27FC236}">
                <a16:creationId xmlns:a16="http://schemas.microsoft.com/office/drawing/2014/main" id="{4A095E3E-4DDF-F39A-1299-960D4AE53667}"/>
              </a:ext>
            </a:extLst>
          </p:cNvPr>
          <p:cNvSpPr txBox="1"/>
          <p:nvPr/>
        </p:nvSpPr>
        <p:spPr>
          <a:xfrm>
            <a:off x="-15240" y="6424445"/>
            <a:ext cx="6096000" cy="461665"/>
          </a:xfrm>
          <a:prstGeom prst="rect">
            <a:avLst/>
          </a:prstGeom>
          <a:noFill/>
        </p:spPr>
        <p:txBody>
          <a:bodyPr wrap="square">
            <a:spAutoFit/>
          </a:bodyPr>
          <a:lstStyle/>
          <a:p>
            <a:r>
              <a:rPr lang="en-US" altLang="zh-CN" sz="1200" dirty="0"/>
              <a:t>u299034j</a:t>
            </a:r>
          </a:p>
          <a:p>
            <a:r>
              <a:rPr lang="en-US" altLang="zh-CN" sz="1200" dirty="0"/>
              <a:t>CHEN WENTAO</a:t>
            </a:r>
            <a:endParaRPr lang="zh-CN" alt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1484</Words>
  <Application>Microsoft Office PowerPoint</Application>
  <PresentationFormat>宽屏</PresentationFormat>
  <Paragraphs>187</Paragraphs>
  <Slides>10</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Yu Gothic</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BOJ Text Mining Final Presentation Revised</dc:title>
  <dc:subject>Text Mining Final Presentation</dc:subject>
  <dc:creator>OpenAI</dc:creator>
  <cp:lastModifiedBy>文濤 陳</cp:lastModifiedBy>
  <cp:revision>5</cp:revision>
  <dcterms:created xsi:type="dcterms:W3CDTF">2026-07-14T03:21:31Z</dcterms:created>
  <dcterms:modified xsi:type="dcterms:W3CDTF">2026-07-14T05:39:42Z</dcterms:modified>
</cp:coreProperties>
</file>